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automatisation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 comptables — Rampal Latour &amp; Compagnie de Provence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4114800"/>
            <a:ext cx="2194560" cy="38404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35"/>
          </a:solidFill>
          <a:ln w="12700">
            <a:solidFill>
              <a:srgbClr val="1A2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 : deux entités, zéro automatisation en place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960120"/>
            <a:ext cx="4160520" cy="475488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Rampal Latour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majoritairement manuel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LSI → Quadra : manuel (quotidien)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Paiements et rapprochements : manuels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Retraitement tableur CA Retail systématique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Aurélie : comptable générale unique, sans suppléant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1605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60120"/>
            <a:ext cx="41605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960120"/>
            <a:ext cx="388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Compagnie de Provence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794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entièrement manuel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Saisies Prestashop → Sage à la main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Rapprochements bancaires manuels (4 canaux)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automatisation en place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Gaëlle : comptable + RH unique, sans suppléant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FEF3E2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61772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Les deux entités fonctionnent aujourd'hui entièrement en manuel. Les éléments 'automatisés' du diagnostic sont des propositions, pas l'état actuel.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35"/>
          </a:solidFill>
          <a:ln w="12700">
            <a:solidFill>
              <a:srgbClr val="1A2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Matrice effort / impact — 8 chantiers identifiés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840480" cy="2377440"/>
          </a:xfrm>
          <a:prstGeom prst="rect">
            <a:avLst/>
          </a:prstGeom>
          <a:solidFill>
            <a:srgbClr val="EAF3DE"/>
          </a:solidFill>
          <a:ln w="12700">
            <a:solidFill>
              <a:srgbClr val="C5E0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914400"/>
            <a:ext cx="4114800" cy="2377440"/>
          </a:xfrm>
          <a:prstGeom prst="rect">
            <a:avLst/>
          </a:prstGeom>
          <a:solidFill>
            <a:srgbClr val="FEF3E2"/>
          </a:solidFill>
          <a:ln w="12700">
            <a:solidFill>
              <a:srgbClr val="F0C0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3474720"/>
            <a:ext cx="3840480" cy="1371600"/>
          </a:xfrm>
          <a:prstGeom prst="rect">
            <a:avLst/>
          </a:prstGeom>
          <a:solidFill>
            <a:srgbClr val="F5F5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3474720"/>
            <a:ext cx="4114800" cy="1371600"/>
          </a:xfrm>
          <a:prstGeom prst="rect">
            <a:avLst/>
          </a:prstGeom>
          <a:solidFill>
            <a:srgbClr val="FEF0EB"/>
          </a:solidFill>
          <a:ln w="12700">
            <a:solidFill>
              <a:srgbClr val="F0C8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6D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immédiats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17720" y="9326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Chantiers structurants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4930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secondaires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617720" y="34930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réexaminer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Effort faible                                   Effort élevé →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 rot="16200000">
            <a:off x="45720" y="1371600"/>
            <a:ext cx="365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04672" y="1170432"/>
            <a:ext cx="402336" cy="402336"/>
          </a:xfrm>
          <a:prstGeom prst="ellipse">
            <a:avLst/>
          </a:prstGeom>
          <a:solidFill>
            <a:srgbClr val="6ECC9C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1704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Connecteur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Prestashop→Sage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10512" y="1627632"/>
            <a:ext cx="402336" cy="402336"/>
          </a:xfrm>
          <a:prstGeom prst="ellipse">
            <a:avLst/>
          </a:prstGeom>
          <a:solidFill>
            <a:srgbClr val="6ECC9C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6304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Rappro bancaire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automatisé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816352" y="1261872"/>
            <a:ext cx="402336" cy="402336"/>
          </a:xfrm>
          <a:prstGeom prst="ellipse">
            <a:avLst/>
          </a:prstGeom>
          <a:solidFill>
            <a:srgbClr val="6ECC9C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16352" y="1261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4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6888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Suppr. tableur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Retail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074920" y="1188720"/>
            <a:ext cx="457200" cy="457200"/>
          </a:xfrm>
          <a:prstGeom prst="ellipse">
            <a:avLst/>
          </a:prstGeom>
          <a:solidFill>
            <a:srgbClr val="F6C26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16733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Facturation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électronique 2026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172200" y="1600200"/>
            <a:ext cx="457200" cy="457200"/>
          </a:xfrm>
          <a:prstGeom prst="ellipse">
            <a:avLst/>
          </a:prstGeom>
          <a:solidFill>
            <a:srgbClr val="F6C26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52160" y="20848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CDP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543800" y="1143000"/>
            <a:ext cx="457200" cy="457200"/>
          </a:xfrm>
          <a:prstGeom prst="ellipse">
            <a:avLst/>
          </a:prstGeom>
          <a:solidFill>
            <a:srgbClr val="F6C26B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4380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C2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23760" y="162763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Progiciel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unifié (18 mois)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97280" y="2743200"/>
            <a:ext cx="365760" cy="365760"/>
          </a:xfrm>
          <a:prstGeom prst="ellipse">
            <a:avLst/>
          </a:prstGeom>
          <a:solidFill>
            <a:srgbClr val="D3D1C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31363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2377440" y="3657600"/>
            <a:ext cx="365760" cy="365760"/>
          </a:xfrm>
          <a:prstGeom prst="ellipse">
            <a:avLst/>
          </a:prstGeom>
          <a:solidFill>
            <a:srgbClr val="D3D1C7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774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11680" y="40507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Démat. bons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réception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C35"/>
          </a:solidFill>
          <a:ln w="12700">
            <a:solidFill>
              <a:srgbClr val="1A2C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clés pour le dirigeant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60120"/>
            <a:ext cx="1737360" cy="310896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ACTUELLE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entités fonctionnent aujourd'hui entièrement en manuel. Les éléments 'automatisés' du diagnostic sont des propositions, pas l'état actuel. Aurélie (Rampal) et Gaëlle (CDP) portent seules l'ensemble des flux.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960120"/>
            <a:ext cx="1737360" cy="3108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9601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LÉGALE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846320" y="13441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Urgence 2026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7373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facturation électronique inter-entreprises devient obligatoire en 2026. Ce chantier est absent du diagnostic — il impose le choix d'une plateforme de dématérialisation partenaire dès maintenant.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30175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017520"/>
            <a:ext cx="1737360" cy="310896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COURT TERME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gains immédiats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65760" y="3794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Connecteur Prestashop→Sage (CDP). ② Automatisation rapprochements Stripe/Paypal/Amazon. ③ Flux direct Odoo→LSI sans tableur. Gain estimé : 1,5 équivalent temps plein / semaine.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301752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017520"/>
            <a:ext cx="1737360" cy="310896"/>
          </a:xfrm>
          <a:prstGeom prst="rect">
            <a:avLst/>
          </a:prstGeom>
          <a:solidFill>
            <a:srgbClr val="991F1F"/>
          </a:solidFill>
          <a:ln w="12700">
            <a:solidFill>
              <a:srgbClr val="991F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01752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 CACHÉ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6320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Dette tableur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379476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Prévisions matières, suivi des impayés, retraitements CA : tout repose sur des fichiers non audités. En cas de départ ou d'erreur, la traçabilité est nulle. Documenter avant d'automatiser.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C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 — horizon 18 mois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530352" cy="530352"/>
          </a:xfrm>
          <a:prstGeom prst="ellipse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2588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1618488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Documenter les procédures d'Aurélie et Gaëlle. Lancer les 3 connecteurs CDP (Prestashop, rapprochements, CA Retail Rampal).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76656" y="1892808"/>
            <a:ext cx="0" cy="512064"/>
          </a:xfrm>
          <a:prstGeom prst="line">
            <a:avLst/>
          </a:prstGeom>
          <a:noFill/>
          <a:ln w="12700">
            <a:solidFill>
              <a:srgbClr val="3A5A6A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7200" y="2404872"/>
            <a:ext cx="530352" cy="530352"/>
          </a:xfrm>
          <a:prstGeom prst="ellipse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404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4048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3 mois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 le chantier facturation électronique. Choisir une plateforme de dématérialisation partenaire agréée avant la contrainte réglementaire.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6656" y="2971800"/>
            <a:ext cx="0" cy="512064"/>
          </a:xfrm>
          <a:prstGeom prst="line">
            <a:avLst/>
          </a:prstGeom>
          <a:noFill/>
          <a:ln w="12700">
            <a:solidFill>
              <a:srgbClr val="3A5A6A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57200" y="3483864"/>
            <a:ext cx="530352" cy="530352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83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483864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18 mois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3776472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B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 la migration vers un progiciel de gestion intégré unifié (Odoo ou Sage X3) — uniquement après stabilisation des flux et fin de la dette tableur.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migrer vers un nouvel outil pour masquer un problème de processus — automatiser le chaos, c'est accélérer le chaos.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Automatisation comptable — Rampal Latour / CDP</dc:title>
  <dc:subject>PptxGenJS Presentation</dc:subject>
  <dc:creator>PptxGenJS</dc:creator>
  <cp:lastModifiedBy>PptxGenJS</cp:lastModifiedBy>
  <cp:revision>1</cp:revision>
  <dcterms:created xsi:type="dcterms:W3CDTF">2026-03-17T09:40:27Z</dcterms:created>
  <dcterms:modified xsi:type="dcterms:W3CDTF">2026-03-17T09:40:27Z</dcterms:modified>
</cp:coreProperties>
</file>