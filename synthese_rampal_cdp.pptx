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2" r:id="rId13"/>
    <p:sldId id="263" r:id="rId14"/>
    <p:sldId id="264" r:id="rId15"/>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12801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Diagnostic automatisation</a:t>
            </a:r>
            <a:endParaRPr lang="en-US" sz="3800" dirty="0"/>
          </a:p>
        </p:txBody>
      </p:sp>
      <p:sp>
        <p:nvSpPr>
          <p:cNvPr id="4" name="Text 2"/>
          <p:cNvSpPr/>
          <p:nvPr/>
        </p:nvSpPr>
        <p:spPr>
          <a:xfrm>
            <a:off x="457200" y="2057400"/>
            <a:ext cx="8229600" cy="457200"/>
          </a:xfrm>
          <a:prstGeom prst="rect">
            <a:avLst/>
          </a:prstGeom>
          <a:noFill/>
          <a:ln/>
        </p:spPr>
        <p:txBody>
          <a:bodyPr wrap="square" lIns="0" tIns="0" rIns="0" bIns="0" rtlCol="0" anchor="ctr"/>
          <a:lstStyle/>
          <a:p>
            <a:pPr indent="0" marL="0">
              <a:buNone/>
            </a:pPr>
            <a:r>
              <a:rPr lang="en-US" sz="1800" dirty="0">
                <a:solidFill>
                  <a:srgbClr val="9BB8C8"/>
                </a:solidFill>
                <a:latin typeface="Calibri" pitchFamily="34" charset="0"/>
                <a:ea typeface="Calibri" pitchFamily="34" charset="-122"/>
                <a:cs typeface="Calibri" pitchFamily="34" charset="-120"/>
              </a:rPr>
              <a:t>Flux comptables — Rampal Latour &amp; Compagnie de Provence</a:t>
            </a:r>
            <a:endParaRPr lang="en-US" sz="1800" dirty="0"/>
          </a:p>
        </p:txBody>
      </p:sp>
      <p:sp>
        <p:nvSpPr>
          <p:cNvPr id="5" name="Shape 3"/>
          <p:cNvSpPr/>
          <p:nvPr/>
        </p:nvSpPr>
        <p:spPr>
          <a:xfrm>
            <a:off x="457200" y="4114800"/>
            <a:ext cx="2194560" cy="384048"/>
          </a:xfrm>
          <a:prstGeom prst="rect">
            <a:avLst/>
          </a:prstGeom>
          <a:solidFill>
            <a:srgbClr val="3B6D11"/>
          </a:solidFill>
          <a:ln w="12700">
            <a:solidFill>
              <a:srgbClr val="3B6D11"/>
            </a:solidFill>
            <a:prstDash val="solid"/>
          </a:ln>
        </p:spPr>
      </p:sp>
      <p:sp>
        <p:nvSpPr>
          <p:cNvPr id="6" name="Text 4"/>
          <p:cNvSpPr/>
          <p:nvPr/>
        </p:nvSpPr>
        <p:spPr>
          <a:xfrm>
            <a:off x="457200" y="411480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Mars 2025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Constat : deux entités, zéro automatisation en place</a:t>
            </a:r>
            <a:endParaRPr lang="en-US" sz="2200" dirty="0"/>
          </a:p>
        </p:txBody>
      </p:sp>
      <p:sp>
        <p:nvSpPr>
          <p:cNvPr id="4" name="Shape 2"/>
          <p:cNvSpPr/>
          <p:nvPr/>
        </p:nvSpPr>
        <p:spPr>
          <a:xfrm>
            <a:off x="274320" y="960120"/>
            <a:ext cx="4160520" cy="3840480"/>
          </a:xfrm>
          <a:prstGeom prst="rect">
            <a:avLst/>
          </a:prstGeom>
          <a:solidFill>
            <a:srgbClr val="FFFFFF"/>
          </a:solidFill>
          <a:ln w="12700">
            <a:solidFill>
              <a:srgbClr val="E2E8F0"/>
            </a:solidFill>
            <a:prstDash val="solid"/>
          </a:ln>
        </p:spPr>
      </p:sp>
      <p:sp>
        <p:nvSpPr>
          <p:cNvPr id="5" name="Shape 3"/>
          <p:cNvSpPr/>
          <p:nvPr/>
        </p:nvSpPr>
        <p:spPr>
          <a:xfrm>
            <a:off x="274320" y="960120"/>
            <a:ext cx="4160520" cy="475488"/>
          </a:xfrm>
          <a:prstGeom prst="rect">
            <a:avLst/>
          </a:prstGeom>
          <a:solidFill>
            <a:srgbClr val="3B6D11"/>
          </a:solidFill>
          <a:ln w="12700">
            <a:solidFill>
              <a:srgbClr val="3B6D11"/>
            </a:solidFill>
            <a:prstDash val="solid"/>
          </a:ln>
        </p:spPr>
      </p:sp>
      <p:sp>
        <p:nvSpPr>
          <p:cNvPr id="6" name="Text 4"/>
          <p:cNvSpPr/>
          <p:nvPr/>
        </p:nvSpPr>
        <p:spPr>
          <a:xfrm>
            <a:off x="41148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Rampal Latour</a:t>
            </a:r>
            <a:endParaRPr lang="en-US" sz="1400" dirty="0"/>
          </a:p>
        </p:txBody>
      </p:sp>
      <p:sp>
        <p:nvSpPr>
          <p:cNvPr id="7" name="Text 5"/>
          <p:cNvSpPr/>
          <p:nvPr/>
        </p:nvSpPr>
        <p:spPr>
          <a:xfrm>
            <a:off x="45720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majoritairement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Export LSI → Quadra : manuel (quotidien)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Paiements et rapprochements : manuels</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Retraitement tableur CA Retail systématique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Aurélie : comptable générale unique, sans suppléant</a:t>
            </a:r>
            <a:endParaRPr lang="en-US" sz="1300" dirty="0"/>
          </a:p>
        </p:txBody>
      </p:sp>
      <p:sp>
        <p:nvSpPr>
          <p:cNvPr id="8" name="Shape 6"/>
          <p:cNvSpPr/>
          <p:nvPr/>
        </p:nvSpPr>
        <p:spPr>
          <a:xfrm>
            <a:off x="4754880" y="960120"/>
            <a:ext cx="4160520" cy="3840480"/>
          </a:xfrm>
          <a:prstGeom prst="rect">
            <a:avLst/>
          </a:prstGeom>
          <a:solidFill>
            <a:srgbClr val="FFFFFF"/>
          </a:solidFill>
          <a:ln w="12700">
            <a:solidFill>
              <a:srgbClr val="E2E8F0"/>
            </a:solidFill>
            <a:prstDash val="solid"/>
          </a:ln>
        </p:spPr>
      </p:sp>
      <p:sp>
        <p:nvSpPr>
          <p:cNvPr id="9" name="Shape 7"/>
          <p:cNvSpPr/>
          <p:nvPr/>
        </p:nvSpPr>
        <p:spPr>
          <a:xfrm>
            <a:off x="4754880" y="960120"/>
            <a:ext cx="4160520" cy="475488"/>
          </a:xfrm>
          <a:prstGeom prst="rect">
            <a:avLst/>
          </a:prstGeom>
          <a:solidFill>
            <a:srgbClr val="B45309"/>
          </a:solidFill>
          <a:ln w="12700">
            <a:solidFill>
              <a:srgbClr val="B45309"/>
            </a:solidFill>
            <a:prstDash val="solid"/>
          </a:ln>
        </p:spPr>
      </p:sp>
      <p:sp>
        <p:nvSpPr>
          <p:cNvPr id="10" name="Text 8"/>
          <p:cNvSpPr/>
          <p:nvPr/>
        </p:nvSpPr>
        <p:spPr>
          <a:xfrm>
            <a:off x="489204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Compagnie de Provence</a:t>
            </a:r>
            <a:endParaRPr lang="en-US" sz="1400" dirty="0"/>
          </a:p>
        </p:txBody>
      </p:sp>
      <p:sp>
        <p:nvSpPr>
          <p:cNvPr id="11" name="Text 9"/>
          <p:cNvSpPr/>
          <p:nvPr/>
        </p:nvSpPr>
        <p:spPr>
          <a:xfrm>
            <a:off x="493776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entièrement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Saisies Prestashop → Sage à la main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Rapprochements bancaires manuels (4 canaux)</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Aucune automatisation en place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Gaëlle : comptable + RH unique, sans suppléant</a:t>
            </a:r>
            <a:endParaRPr lang="en-US" sz="1300" dirty="0"/>
          </a:p>
        </p:txBody>
      </p:sp>
      <p:sp>
        <p:nvSpPr>
          <p:cNvPr id="12" name="Shape 10"/>
          <p:cNvSpPr/>
          <p:nvPr/>
        </p:nvSpPr>
        <p:spPr>
          <a:xfrm>
            <a:off x="274320" y="4617720"/>
            <a:ext cx="8595360" cy="347472"/>
          </a:xfrm>
          <a:prstGeom prst="rect">
            <a:avLst/>
          </a:prstGeom>
          <a:solidFill>
            <a:srgbClr val="FEF3E2"/>
          </a:solidFill>
          <a:ln w="12700">
            <a:solidFill>
              <a:srgbClr val="B45309"/>
            </a:solidFill>
            <a:prstDash val="solid"/>
          </a:ln>
        </p:spPr>
      </p:sp>
      <p:sp>
        <p:nvSpPr>
          <p:cNvPr id="13" name="Text 11"/>
          <p:cNvSpPr/>
          <p:nvPr/>
        </p:nvSpPr>
        <p:spPr>
          <a:xfrm>
            <a:off x="411480" y="4617720"/>
            <a:ext cx="8321040" cy="347472"/>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Les deux entités fonctionnent aujourd'hui entièrement en manuel. Les éléments 'automatisés' du diagnostic sont des propositions, pas l'état actuel.</a:t>
            </a:r>
            <a:endParaRPr lang="en-US" sz="1100" dirty="0"/>
          </a:p>
        </p:txBody>
      </p:sp>
      <p:sp>
        <p:nvSpPr>
          <p:cNvPr id="14" name="TextBox 13"/>
          <p:cNvSpPr txBox="1"/>
          <p:nvPr/>
        </p:nvSpPr>
        <p:spPr>
          <a:xfrm>
            <a:off x="274320" y="4980000"/>
            <a:ext cx="8595360" cy="200000"/>
          </a:xfrm>
          <a:prstGeom prst="rect">
            <a:avLst/>
          </a:prstGeom>
          <a:noFill/>
        </p:spPr>
        <p:txBody>
          <a:bodyPr wrap="square">
            <a:spAutoFit/>
          </a:bodyPr>
          <a:lstStyle/>
          <a:p>
            <a:r>
              <a:rPr sz="900" i="1">
                <a:solidFill>
                  <a:srgbClr val="64748B"/>
                </a:solidFill>
              </a:rPr>
              <a:t>➜ Détails interactifs : maxberko.github.io/rampal-latour-accounting/synthese.html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Matrice effort / impact — 8 chantiers identifiés</a:t>
            </a:r>
            <a:endParaRPr lang="en-US" sz="2200" dirty="0"/>
          </a:p>
        </p:txBody>
      </p:sp>
      <p:sp>
        <p:nvSpPr>
          <p:cNvPr id="4" name="Shape 2"/>
          <p:cNvSpPr/>
          <p:nvPr/>
        </p:nvSpPr>
        <p:spPr>
          <a:xfrm>
            <a:off x="457200" y="914400"/>
            <a:ext cx="3840480" cy="2377440"/>
          </a:xfrm>
          <a:prstGeom prst="rect">
            <a:avLst/>
          </a:prstGeom>
          <a:solidFill>
            <a:srgbClr val="EAF3DE"/>
          </a:solidFill>
          <a:ln w="12700">
            <a:solidFill>
              <a:srgbClr val="C5E0A0"/>
            </a:solidFill>
            <a:prstDash val="solid"/>
          </a:ln>
        </p:spPr>
      </p:sp>
      <p:sp>
        <p:nvSpPr>
          <p:cNvPr id="5" name="Shape 3"/>
          <p:cNvSpPr/>
          <p:nvPr/>
        </p:nvSpPr>
        <p:spPr>
          <a:xfrm>
            <a:off x="4572000" y="914400"/>
            <a:ext cx="4114800" cy="2377440"/>
          </a:xfrm>
          <a:prstGeom prst="rect">
            <a:avLst/>
          </a:prstGeom>
          <a:solidFill>
            <a:srgbClr val="FEF3E2"/>
          </a:solidFill>
          <a:ln w="12700">
            <a:solidFill>
              <a:srgbClr val="F0C070"/>
            </a:solidFill>
            <a:prstDash val="solid"/>
          </a:ln>
        </p:spPr>
      </p:sp>
      <p:sp>
        <p:nvSpPr>
          <p:cNvPr id="6" name="Shape 4"/>
          <p:cNvSpPr/>
          <p:nvPr/>
        </p:nvSpPr>
        <p:spPr>
          <a:xfrm>
            <a:off x="457200" y="3474720"/>
            <a:ext cx="3840480" cy="1371600"/>
          </a:xfrm>
          <a:prstGeom prst="rect">
            <a:avLst/>
          </a:prstGeom>
          <a:solidFill>
            <a:srgbClr val="F5F5F3"/>
          </a:solidFill>
          <a:ln w="12700">
            <a:solidFill>
              <a:srgbClr val="E2E8F0"/>
            </a:solidFill>
            <a:prstDash val="solid"/>
          </a:ln>
        </p:spPr>
      </p:sp>
      <p:sp>
        <p:nvSpPr>
          <p:cNvPr id="7" name="Shape 5"/>
          <p:cNvSpPr/>
          <p:nvPr/>
        </p:nvSpPr>
        <p:spPr>
          <a:xfrm>
            <a:off x="4572000" y="3474720"/>
            <a:ext cx="4114800" cy="1371600"/>
          </a:xfrm>
          <a:prstGeom prst="rect">
            <a:avLst/>
          </a:prstGeom>
          <a:solidFill>
            <a:srgbClr val="FEF0EB"/>
          </a:solidFill>
          <a:ln w="12700">
            <a:solidFill>
              <a:srgbClr val="F0C8B0"/>
            </a:solidFill>
            <a:prstDash val="solid"/>
          </a:ln>
        </p:spPr>
      </p:sp>
      <p:sp>
        <p:nvSpPr>
          <p:cNvPr id="8" name="Text 6"/>
          <p:cNvSpPr/>
          <p:nvPr/>
        </p:nvSpPr>
        <p:spPr>
          <a:xfrm>
            <a:off x="502920" y="932688"/>
            <a:ext cx="3749040" cy="274320"/>
          </a:xfrm>
          <a:prstGeom prst="rect">
            <a:avLst/>
          </a:prstGeom>
          <a:noFill/>
          <a:ln/>
        </p:spPr>
        <p:txBody>
          <a:bodyPr wrap="square" lIns="0" tIns="0" rIns="0" bIns="0" rtlCol="0" anchor="ctr"/>
          <a:lstStyle/>
          <a:p>
            <a:pPr indent="0" marL="0">
              <a:buNone/>
            </a:pPr>
            <a:r>
              <a:rPr lang="en-US" sz="1100" b="1" dirty="0">
                <a:solidFill>
                  <a:srgbClr val="3B6D11"/>
                </a:solidFill>
                <a:latin typeface="Calibri" pitchFamily="34" charset="0"/>
                <a:ea typeface="Calibri" pitchFamily="34" charset="-122"/>
                <a:cs typeface="Calibri" pitchFamily="34" charset="-120"/>
              </a:rPr>
              <a:t>Gains immédiats</a:t>
            </a:r>
            <a:endParaRPr lang="en-US" sz="1100" dirty="0"/>
          </a:p>
        </p:txBody>
      </p:sp>
      <p:sp>
        <p:nvSpPr>
          <p:cNvPr id="9" name="Text 7"/>
          <p:cNvSpPr/>
          <p:nvPr/>
        </p:nvSpPr>
        <p:spPr>
          <a:xfrm>
            <a:off x="4617720" y="932688"/>
            <a:ext cx="4023360" cy="274320"/>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Chantiers structurants</a:t>
            </a:r>
            <a:endParaRPr lang="en-US" sz="1100" dirty="0"/>
          </a:p>
        </p:txBody>
      </p:sp>
      <p:sp>
        <p:nvSpPr>
          <p:cNvPr id="10" name="Text 8"/>
          <p:cNvSpPr/>
          <p:nvPr/>
        </p:nvSpPr>
        <p:spPr>
          <a:xfrm>
            <a:off x="502920" y="3493008"/>
            <a:ext cx="3749040" cy="25603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Améliorations secondaires</a:t>
            </a:r>
            <a:endParaRPr lang="en-US" sz="1000" dirty="0"/>
          </a:p>
        </p:txBody>
      </p:sp>
      <p:sp>
        <p:nvSpPr>
          <p:cNvPr id="11" name="Text 9"/>
          <p:cNvSpPr/>
          <p:nvPr/>
        </p:nvSpPr>
        <p:spPr>
          <a:xfrm>
            <a:off x="4617720" y="3493008"/>
            <a:ext cx="4023360" cy="256032"/>
          </a:xfrm>
          <a:prstGeom prst="rect">
            <a:avLst/>
          </a:prstGeom>
          <a:noFill/>
          <a:ln/>
        </p:spPr>
        <p:txBody>
          <a:bodyPr wrap="square" lIns="0" tIns="0" rIns="0" bIns="0" rtlCol="0" anchor="ctr"/>
          <a:lstStyle/>
          <a:p>
            <a:pPr indent="0" marL="0">
              <a:buNone/>
            </a:pPr>
            <a:r>
              <a:rPr lang="en-US" sz="1000" dirty="0">
                <a:solidFill>
                  <a:srgbClr val="991F1F"/>
                </a:solidFill>
                <a:latin typeface="Calibri" pitchFamily="34" charset="0"/>
                <a:ea typeface="Calibri" pitchFamily="34" charset="-122"/>
                <a:cs typeface="Calibri" pitchFamily="34" charset="-120"/>
              </a:rPr>
              <a:t>À réexaminer</a:t>
            </a:r>
            <a:endParaRPr lang="en-US" sz="1000" dirty="0"/>
          </a:p>
        </p:txBody>
      </p:sp>
      <p:sp>
        <p:nvSpPr>
          <p:cNvPr id="12" name="Text 10"/>
          <p:cNvSpPr/>
          <p:nvPr/>
        </p:nvSpPr>
        <p:spPr>
          <a:xfrm>
            <a:off x="457200" y="4892040"/>
            <a:ext cx="8229600" cy="201168"/>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 Effort faible                                   Effort élevé →</a:t>
            </a:r>
            <a:endParaRPr lang="en-US" sz="1000" dirty="0"/>
          </a:p>
        </p:txBody>
      </p:sp>
      <p:sp>
        <p:nvSpPr>
          <p:cNvPr id="13" name="Text 11"/>
          <p:cNvSpPr/>
          <p:nvPr/>
        </p:nvSpPr>
        <p:spPr>
          <a:xfrm rot="16200000">
            <a:off x="45720" y="1371600"/>
            <a:ext cx="365760" cy="228600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Impact ↑</a:t>
            </a:r>
            <a:endParaRPr lang="en-US" sz="1000" dirty="0"/>
          </a:p>
        </p:txBody>
      </p:sp>
      <p:sp>
        <p:nvSpPr>
          <p:cNvPr id="14" name="Shape 12"/>
          <p:cNvSpPr/>
          <p:nvPr/>
        </p:nvSpPr>
        <p:spPr>
          <a:xfrm>
            <a:off x="804672" y="1170432"/>
            <a:ext cx="402336" cy="402336"/>
          </a:xfrm>
          <a:prstGeom prst="ellipse">
            <a:avLst/>
          </a:prstGeom>
          <a:solidFill>
            <a:srgbClr val="6ECC9C"/>
          </a:solidFill>
          <a:ln w="12700">
            <a:solidFill>
              <a:srgbClr val="3B6D11"/>
            </a:solidFill>
            <a:prstDash val="solid"/>
          </a:ln>
        </p:spPr>
      </p:sp>
      <p:sp>
        <p:nvSpPr>
          <p:cNvPr id="15" name="Text 13"/>
          <p:cNvSpPr/>
          <p:nvPr/>
        </p:nvSpPr>
        <p:spPr>
          <a:xfrm>
            <a:off x="804672" y="11704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1</a:t>
            </a:r>
            <a:endParaRPr lang="en-US" sz="1100" dirty="0"/>
          </a:p>
        </p:txBody>
      </p:sp>
      <p:sp>
        <p:nvSpPr>
          <p:cNvPr id="16" name="Text 14"/>
          <p:cNvSpPr/>
          <p:nvPr/>
        </p:nvSpPr>
        <p:spPr>
          <a:xfrm>
            <a:off x="457200" y="16002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Connecteur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Prestashop→Sage</a:t>
            </a:r>
            <a:endParaRPr lang="en-US" sz="800" dirty="0"/>
          </a:p>
        </p:txBody>
      </p:sp>
      <p:sp>
        <p:nvSpPr>
          <p:cNvPr id="17" name="Shape 15"/>
          <p:cNvSpPr/>
          <p:nvPr/>
        </p:nvSpPr>
        <p:spPr>
          <a:xfrm>
            <a:off x="1810512" y="1627632"/>
            <a:ext cx="402336" cy="402336"/>
          </a:xfrm>
          <a:prstGeom prst="ellipse">
            <a:avLst/>
          </a:prstGeom>
          <a:solidFill>
            <a:srgbClr val="6ECC9C"/>
          </a:solidFill>
          <a:ln w="12700">
            <a:solidFill>
              <a:srgbClr val="3B6D11"/>
            </a:solidFill>
            <a:prstDash val="solid"/>
          </a:ln>
        </p:spPr>
      </p:sp>
      <p:sp>
        <p:nvSpPr>
          <p:cNvPr id="18" name="Text 16"/>
          <p:cNvSpPr/>
          <p:nvPr/>
        </p:nvSpPr>
        <p:spPr>
          <a:xfrm>
            <a:off x="1810512" y="16276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2</a:t>
            </a:r>
            <a:endParaRPr lang="en-US" sz="1100" dirty="0"/>
          </a:p>
        </p:txBody>
      </p:sp>
      <p:sp>
        <p:nvSpPr>
          <p:cNvPr id="19" name="Text 17"/>
          <p:cNvSpPr/>
          <p:nvPr/>
        </p:nvSpPr>
        <p:spPr>
          <a:xfrm>
            <a:off x="1463040" y="20574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Rappro bancaire</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automatisé</a:t>
            </a:r>
            <a:endParaRPr lang="en-US" sz="800" dirty="0"/>
          </a:p>
        </p:txBody>
      </p:sp>
      <p:sp>
        <p:nvSpPr>
          <p:cNvPr id="20" name="Shape 18"/>
          <p:cNvSpPr/>
          <p:nvPr/>
        </p:nvSpPr>
        <p:spPr>
          <a:xfrm>
            <a:off x="2816352" y="1261872"/>
            <a:ext cx="402336" cy="402336"/>
          </a:xfrm>
          <a:prstGeom prst="ellipse">
            <a:avLst/>
          </a:prstGeom>
          <a:solidFill>
            <a:srgbClr val="6ECC9C"/>
          </a:solidFill>
          <a:ln w="12700">
            <a:solidFill>
              <a:srgbClr val="3B6D11"/>
            </a:solidFill>
            <a:prstDash val="solid"/>
          </a:ln>
        </p:spPr>
      </p:sp>
      <p:sp>
        <p:nvSpPr>
          <p:cNvPr id="21" name="Text 19"/>
          <p:cNvSpPr/>
          <p:nvPr/>
        </p:nvSpPr>
        <p:spPr>
          <a:xfrm>
            <a:off x="2816352" y="126187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2468880" y="169164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Suppr. tableur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CA Retail</a:t>
            </a:r>
            <a:endParaRPr lang="en-US" sz="800" dirty="0"/>
          </a:p>
        </p:txBody>
      </p:sp>
      <p:sp>
        <p:nvSpPr>
          <p:cNvPr id="23" name="Shape 21"/>
          <p:cNvSpPr/>
          <p:nvPr/>
        </p:nvSpPr>
        <p:spPr>
          <a:xfrm>
            <a:off x="5074920" y="1188720"/>
            <a:ext cx="457200" cy="457200"/>
          </a:xfrm>
          <a:prstGeom prst="ellipse">
            <a:avLst/>
          </a:prstGeom>
          <a:solidFill>
            <a:srgbClr val="F6C26B"/>
          </a:solidFill>
          <a:ln w="12700">
            <a:solidFill>
              <a:srgbClr val="B45309"/>
            </a:solidFill>
            <a:prstDash val="solid"/>
          </a:ln>
        </p:spPr>
      </p:sp>
      <p:sp>
        <p:nvSpPr>
          <p:cNvPr id="24" name="Text 22"/>
          <p:cNvSpPr/>
          <p:nvPr/>
        </p:nvSpPr>
        <p:spPr>
          <a:xfrm>
            <a:off x="5074920" y="118872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4754880" y="167335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Facturation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électronique 2026</a:t>
            </a:r>
            <a:endParaRPr lang="en-US" sz="800" dirty="0"/>
          </a:p>
        </p:txBody>
      </p:sp>
      <p:sp>
        <p:nvSpPr>
          <p:cNvPr id="26" name="Shape 24"/>
          <p:cNvSpPr/>
          <p:nvPr/>
        </p:nvSpPr>
        <p:spPr>
          <a:xfrm>
            <a:off x="6172200" y="1600200"/>
            <a:ext cx="457200" cy="457200"/>
          </a:xfrm>
          <a:prstGeom prst="ellipse">
            <a:avLst/>
          </a:prstGeom>
          <a:solidFill>
            <a:srgbClr val="F6C26B"/>
          </a:solidFill>
          <a:ln w="12700">
            <a:solidFill>
              <a:srgbClr val="B45309"/>
            </a:solidFill>
            <a:prstDash val="solid"/>
          </a:ln>
        </p:spPr>
      </p:sp>
      <p:sp>
        <p:nvSpPr>
          <p:cNvPr id="27" name="Text 25"/>
          <p:cNvSpPr/>
          <p:nvPr/>
        </p:nvSpPr>
        <p:spPr>
          <a:xfrm>
            <a:off x="6172200" y="16002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8</a:t>
            </a:r>
            <a:endParaRPr lang="en-US" sz="1100" dirty="0"/>
          </a:p>
        </p:txBody>
      </p:sp>
      <p:sp>
        <p:nvSpPr>
          <p:cNvPr id="28" name="Text 26"/>
          <p:cNvSpPr/>
          <p:nvPr/>
        </p:nvSpPr>
        <p:spPr>
          <a:xfrm>
            <a:off x="5852160" y="20848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Commandes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B2B CDP</a:t>
            </a:r>
            <a:endParaRPr lang="en-US" sz="800" dirty="0"/>
          </a:p>
        </p:txBody>
      </p:sp>
      <p:sp>
        <p:nvSpPr>
          <p:cNvPr id="29" name="Shape 27"/>
          <p:cNvSpPr/>
          <p:nvPr/>
        </p:nvSpPr>
        <p:spPr>
          <a:xfrm>
            <a:off x="7543800" y="1143000"/>
            <a:ext cx="457200" cy="457200"/>
          </a:xfrm>
          <a:prstGeom prst="ellipse">
            <a:avLst/>
          </a:prstGeom>
          <a:solidFill>
            <a:srgbClr val="F6C26B"/>
          </a:solidFill>
          <a:ln w="12700">
            <a:solidFill>
              <a:srgbClr val="B45309"/>
            </a:solidFill>
            <a:prstDash val="solid"/>
          </a:ln>
        </p:spPr>
      </p:sp>
      <p:sp>
        <p:nvSpPr>
          <p:cNvPr id="30" name="Text 28"/>
          <p:cNvSpPr/>
          <p:nvPr/>
        </p:nvSpPr>
        <p:spPr>
          <a:xfrm>
            <a:off x="7543800" y="11430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6</a:t>
            </a:r>
            <a:endParaRPr lang="en-US" sz="1100" dirty="0"/>
          </a:p>
        </p:txBody>
      </p:sp>
      <p:sp>
        <p:nvSpPr>
          <p:cNvPr id="31" name="Text 29"/>
          <p:cNvSpPr/>
          <p:nvPr/>
        </p:nvSpPr>
        <p:spPr>
          <a:xfrm>
            <a:off x="7223760" y="16276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Progiciel</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unifié (18 mois)</a:t>
            </a:r>
            <a:endParaRPr lang="en-US" sz="800" dirty="0"/>
          </a:p>
        </p:txBody>
      </p:sp>
      <p:sp>
        <p:nvSpPr>
          <p:cNvPr id="32" name="Shape 30"/>
          <p:cNvSpPr/>
          <p:nvPr/>
        </p:nvSpPr>
        <p:spPr>
          <a:xfrm>
            <a:off x="1097280" y="2743200"/>
            <a:ext cx="365760" cy="365760"/>
          </a:xfrm>
          <a:prstGeom prst="ellipse">
            <a:avLst/>
          </a:prstGeom>
          <a:solidFill>
            <a:srgbClr val="D3D1C7"/>
          </a:solidFill>
          <a:ln w="12700">
            <a:solidFill>
              <a:srgbClr val="888888"/>
            </a:solidFill>
            <a:prstDash val="solid"/>
          </a:ln>
        </p:spPr>
      </p:sp>
      <p:sp>
        <p:nvSpPr>
          <p:cNvPr id="33" name="Text 31"/>
          <p:cNvSpPr/>
          <p:nvPr/>
        </p:nvSpPr>
        <p:spPr>
          <a:xfrm>
            <a:off x="1097280" y="27432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4</a:t>
            </a:r>
            <a:endParaRPr lang="en-US" sz="1100" dirty="0"/>
          </a:p>
        </p:txBody>
      </p:sp>
      <p:sp>
        <p:nvSpPr>
          <p:cNvPr id="34" name="Text 32"/>
          <p:cNvSpPr/>
          <p:nvPr/>
        </p:nvSpPr>
        <p:spPr>
          <a:xfrm>
            <a:off x="731520" y="31363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Documentation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procédures</a:t>
            </a:r>
            <a:endParaRPr lang="en-US" sz="800" dirty="0"/>
          </a:p>
        </p:txBody>
      </p:sp>
      <p:sp>
        <p:nvSpPr>
          <p:cNvPr id="35" name="Shape 33"/>
          <p:cNvSpPr/>
          <p:nvPr/>
        </p:nvSpPr>
        <p:spPr>
          <a:xfrm>
            <a:off x="2377440" y="3657600"/>
            <a:ext cx="365760" cy="365760"/>
          </a:xfrm>
          <a:prstGeom prst="ellipse">
            <a:avLst/>
          </a:prstGeom>
          <a:solidFill>
            <a:srgbClr val="D3D1C7"/>
          </a:solidFill>
          <a:ln w="12700">
            <a:solidFill>
              <a:srgbClr val="888888"/>
            </a:solidFill>
            <a:prstDash val="solid"/>
          </a:ln>
        </p:spPr>
      </p:sp>
      <p:sp>
        <p:nvSpPr>
          <p:cNvPr id="36" name="Text 34"/>
          <p:cNvSpPr/>
          <p:nvPr/>
        </p:nvSpPr>
        <p:spPr>
          <a:xfrm>
            <a:off x="2377440" y="36576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2011680" y="40507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Démat. bons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réception</a:t>
            </a:r>
            <a:endParaRPr lang="en-US" sz="800" dirty="0"/>
          </a:p>
        </p:txBody>
      </p:sp>
      <p:sp>
        <p:nvSpPr>
          <p:cNvPr id="38" name="TextBox 37"/>
          <p:cNvSpPr txBox="1"/>
          <p:nvPr/>
        </p:nvSpPr>
        <p:spPr>
          <a:xfrm>
            <a:off x="457200" y="4700000"/>
            <a:ext cx="8229600" cy="200000"/>
          </a:xfrm>
          <a:prstGeom prst="rect">
            <a:avLst/>
          </a:prstGeom>
          <a:noFill/>
        </p:spPr>
        <p:txBody>
          <a:bodyPr wrap="square">
            <a:spAutoFit/>
          </a:bodyPr>
          <a:lstStyle/>
          <a:p>
            <a:r>
              <a:rPr sz="900" i="1">
                <a:solidFill>
                  <a:srgbClr val="64748B"/>
                </a:solidFill>
              </a:rPr>
              <a:t>➜ Version interactive : maxberko.github.io/rampal-latour-accounting/matrice.html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Points clés pour le dirigeant</a:t>
            </a:r>
            <a:endParaRPr lang="en-US" sz="2200" dirty="0"/>
          </a:p>
        </p:txBody>
      </p:sp>
      <p:sp>
        <p:nvSpPr>
          <p:cNvPr id="4" name="Shape 2"/>
          <p:cNvSpPr/>
          <p:nvPr/>
        </p:nvSpPr>
        <p:spPr>
          <a:xfrm>
            <a:off x="228600" y="960120"/>
            <a:ext cx="4206240" cy="1874520"/>
          </a:xfrm>
          <a:prstGeom prst="rect">
            <a:avLst/>
          </a:prstGeom>
          <a:solidFill>
            <a:srgbClr val="FFFFFF"/>
          </a:solidFill>
          <a:ln w="12700">
            <a:solidFill>
              <a:srgbClr val="E2E8F0"/>
            </a:solidFill>
            <a:prstDash val="solid"/>
          </a:ln>
        </p:spPr>
      </p:sp>
      <p:sp>
        <p:nvSpPr>
          <p:cNvPr id="5" name="Shape 3"/>
          <p:cNvSpPr/>
          <p:nvPr/>
        </p:nvSpPr>
        <p:spPr>
          <a:xfrm>
            <a:off x="228600" y="960120"/>
            <a:ext cx="1737360" cy="310896"/>
          </a:xfrm>
          <a:prstGeom prst="rect">
            <a:avLst/>
          </a:prstGeom>
          <a:solidFill>
            <a:srgbClr val="3B6D11"/>
          </a:solidFill>
          <a:ln w="12700">
            <a:solidFill>
              <a:srgbClr val="3B6D11"/>
            </a:solidFill>
            <a:prstDash val="solid"/>
          </a:ln>
        </p:spPr>
      </p:sp>
      <p:sp>
        <p:nvSpPr>
          <p:cNvPr id="6" name="Text 4"/>
          <p:cNvSpPr/>
          <p:nvPr/>
        </p:nvSpPr>
        <p:spPr>
          <a:xfrm>
            <a:off x="22860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SITUATION ACTUELLE</a:t>
            </a:r>
            <a:endParaRPr lang="en-US" sz="800" dirty="0"/>
          </a:p>
        </p:txBody>
      </p:sp>
      <p:sp>
        <p:nvSpPr>
          <p:cNvPr id="7" name="Text 5"/>
          <p:cNvSpPr/>
          <p:nvPr/>
        </p:nvSpPr>
        <p:spPr>
          <a:xfrm>
            <a:off x="36576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Constat</a:t>
            </a:r>
            <a:endParaRPr lang="en-US" sz="1500" dirty="0"/>
          </a:p>
        </p:txBody>
      </p:sp>
      <p:sp>
        <p:nvSpPr>
          <p:cNvPr id="8" name="Text 6"/>
          <p:cNvSpPr/>
          <p:nvPr/>
        </p:nvSpPr>
        <p:spPr>
          <a:xfrm>
            <a:off x="36576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Les deux entités fonctionnent aujourd'hui en manuel. Aurélie (Rampal) et Gaëlle (CDP) portent seules l'ensemble des flux, sans suppléant ni procédure écrite. Tout diagnostic d'automatisation repose sur cette réalité, pas sur les propositions du document source.</a:t>
            </a:r>
            <a:endParaRPr lang="en-US" sz="1200" dirty="0"/>
          </a:p>
        </p:txBody>
      </p:sp>
      <p:sp>
        <p:nvSpPr>
          <p:cNvPr id="9" name="Shape 7"/>
          <p:cNvSpPr/>
          <p:nvPr/>
        </p:nvSpPr>
        <p:spPr>
          <a:xfrm>
            <a:off x="4709160" y="960120"/>
            <a:ext cx="4206240" cy="1874520"/>
          </a:xfrm>
          <a:prstGeom prst="rect">
            <a:avLst/>
          </a:prstGeom>
          <a:solidFill>
            <a:srgbClr val="FFFFFF"/>
          </a:solidFill>
          <a:ln w="12700">
            <a:solidFill>
              <a:srgbClr val="E2E8F0"/>
            </a:solidFill>
            <a:prstDash val="solid"/>
          </a:ln>
        </p:spPr>
      </p:sp>
      <p:sp>
        <p:nvSpPr>
          <p:cNvPr id="10" name="Shape 8"/>
          <p:cNvSpPr/>
          <p:nvPr/>
        </p:nvSpPr>
        <p:spPr>
          <a:xfrm>
            <a:off x="4709160" y="960120"/>
            <a:ext cx="1737360" cy="310896"/>
          </a:xfrm>
          <a:prstGeom prst="rect">
            <a:avLst/>
          </a:prstGeom>
          <a:solidFill>
            <a:srgbClr val="B45309"/>
          </a:solidFill>
          <a:ln w="12700">
            <a:solidFill>
              <a:srgbClr val="B45309"/>
            </a:solidFill>
            <a:prstDash val="solid"/>
          </a:ln>
        </p:spPr>
      </p:sp>
      <p:sp>
        <p:nvSpPr>
          <p:cNvPr id="11" name="Text 9"/>
          <p:cNvSpPr/>
          <p:nvPr/>
        </p:nvSpPr>
        <p:spPr>
          <a:xfrm>
            <a:off x="470916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CONFORMITÉ LÉGALE</a:t>
            </a:r>
            <a:endParaRPr lang="en-US" sz="800" dirty="0"/>
          </a:p>
        </p:txBody>
      </p:sp>
      <p:sp>
        <p:nvSpPr>
          <p:cNvPr id="12" name="Text 10"/>
          <p:cNvSpPr/>
          <p:nvPr/>
        </p:nvSpPr>
        <p:spPr>
          <a:xfrm>
            <a:off x="484632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Urgence 2026</a:t>
            </a:r>
            <a:endParaRPr lang="en-US" sz="1500" dirty="0"/>
          </a:p>
        </p:txBody>
      </p:sp>
      <p:sp>
        <p:nvSpPr>
          <p:cNvPr id="13" name="Text 11"/>
          <p:cNvSpPr/>
          <p:nvPr/>
        </p:nvSpPr>
        <p:spPr>
          <a:xfrm>
            <a:off x="484632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La facturation électronique inter-entreprises devient obligatoire en 2026 (calendrier ayant déjà glissé depuis 2024). Ce chantier impose le choix d'une PDP agréée. Le marché est jeune, le risque de mauvais choix de prestataire est réel. L'expert-comptable est le premier interlocuteur.</a:t>
            </a:r>
            <a:endParaRPr lang="en-US" sz="1200" dirty="0"/>
          </a:p>
        </p:txBody>
      </p:sp>
      <p:sp>
        <p:nvSpPr>
          <p:cNvPr id="14" name="Shape 12"/>
          <p:cNvSpPr/>
          <p:nvPr/>
        </p:nvSpPr>
        <p:spPr>
          <a:xfrm>
            <a:off x="228600" y="3017520"/>
            <a:ext cx="4206240" cy="1874520"/>
          </a:xfrm>
          <a:prstGeom prst="rect">
            <a:avLst/>
          </a:prstGeom>
          <a:solidFill>
            <a:srgbClr val="FFFFFF"/>
          </a:solidFill>
          <a:ln w="12700">
            <a:solidFill>
              <a:srgbClr val="E2E8F0"/>
            </a:solidFill>
            <a:prstDash val="solid"/>
          </a:ln>
        </p:spPr>
      </p:sp>
      <p:sp>
        <p:nvSpPr>
          <p:cNvPr id="15" name="Shape 13"/>
          <p:cNvSpPr/>
          <p:nvPr/>
        </p:nvSpPr>
        <p:spPr>
          <a:xfrm>
            <a:off x="228600" y="3017520"/>
            <a:ext cx="1737360" cy="310896"/>
          </a:xfrm>
          <a:prstGeom prst="rect">
            <a:avLst/>
          </a:prstGeom>
          <a:solidFill>
            <a:srgbClr val="1A56A0"/>
          </a:solidFill>
          <a:ln w="12700">
            <a:solidFill>
              <a:srgbClr val="1A56A0"/>
            </a:solidFill>
            <a:prstDash val="solid"/>
          </a:ln>
        </p:spPr>
      </p:sp>
      <p:sp>
        <p:nvSpPr>
          <p:cNvPr id="16" name="Text 14"/>
          <p:cNvSpPr/>
          <p:nvPr/>
        </p:nvSpPr>
        <p:spPr>
          <a:xfrm>
            <a:off x="22860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PRIORITÉ COURT TERME</a:t>
            </a:r>
            <a:endParaRPr lang="en-US" sz="800" dirty="0"/>
          </a:p>
        </p:txBody>
      </p:sp>
      <p:sp>
        <p:nvSpPr>
          <p:cNvPr id="17" name="Text 15"/>
          <p:cNvSpPr/>
          <p:nvPr/>
        </p:nvSpPr>
        <p:spPr>
          <a:xfrm>
            <a:off x="36576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3 gains immédiats</a:t>
            </a:r>
            <a:endParaRPr lang="en-US" sz="1500" dirty="0"/>
          </a:p>
        </p:txBody>
      </p:sp>
      <p:sp>
        <p:nvSpPr>
          <p:cNvPr id="18" name="Text 16"/>
          <p:cNvSpPr/>
          <p:nvPr/>
        </p:nvSpPr>
        <p:spPr>
          <a:xfrm>
            <a:off x="36576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① Connecteur Prestashop→Sage (si versions compatibles — non vérifié). ② Rapprochement bancaire (viser 80% de lettrage auto, pas 100%). ③ Flux Odoo→LSI (auditer le tableur d'Aurélie avant de le supprimer). Chaque chantier nécessite cadrage et devis. Le gain de 1,5 ETP/semaine est une estimation non mesurée.</a:t>
            </a:r>
            <a:endParaRPr lang="en-US" sz="1200" dirty="0"/>
          </a:p>
        </p:txBody>
      </p:sp>
      <p:sp>
        <p:nvSpPr>
          <p:cNvPr id="19" name="Shape 17"/>
          <p:cNvSpPr/>
          <p:nvPr/>
        </p:nvSpPr>
        <p:spPr>
          <a:xfrm>
            <a:off x="4709160" y="3017520"/>
            <a:ext cx="4206240" cy="1874520"/>
          </a:xfrm>
          <a:prstGeom prst="rect">
            <a:avLst/>
          </a:prstGeom>
          <a:solidFill>
            <a:srgbClr val="FFFFFF"/>
          </a:solidFill>
          <a:ln w="12700">
            <a:solidFill>
              <a:srgbClr val="E2E8F0"/>
            </a:solidFill>
            <a:prstDash val="solid"/>
          </a:ln>
        </p:spPr>
      </p:sp>
      <p:sp>
        <p:nvSpPr>
          <p:cNvPr id="20" name="Shape 18"/>
          <p:cNvSpPr/>
          <p:nvPr/>
        </p:nvSpPr>
        <p:spPr>
          <a:xfrm>
            <a:off x="4709160" y="3017520"/>
            <a:ext cx="1737360" cy="310896"/>
          </a:xfrm>
          <a:prstGeom prst="rect">
            <a:avLst/>
          </a:prstGeom>
          <a:solidFill>
            <a:srgbClr val="991F1F"/>
          </a:solidFill>
          <a:ln w="12700">
            <a:solidFill>
              <a:srgbClr val="991F1F"/>
            </a:solidFill>
            <a:prstDash val="solid"/>
          </a:ln>
        </p:spPr>
      </p:sp>
      <p:sp>
        <p:nvSpPr>
          <p:cNvPr id="21" name="Text 19"/>
          <p:cNvSpPr/>
          <p:nvPr/>
        </p:nvSpPr>
        <p:spPr>
          <a:xfrm>
            <a:off x="470916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RISQUE CACHÉ</a:t>
            </a:r>
            <a:endParaRPr lang="en-US" sz="800" dirty="0"/>
          </a:p>
        </p:txBody>
      </p:sp>
      <p:sp>
        <p:nvSpPr>
          <p:cNvPr id="22" name="Text 20"/>
          <p:cNvSpPr/>
          <p:nvPr/>
        </p:nvSpPr>
        <p:spPr>
          <a:xfrm>
            <a:off x="484632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Dette tableur</a:t>
            </a:r>
            <a:endParaRPr lang="en-US" sz="1500" dirty="0"/>
          </a:p>
        </p:txBody>
      </p:sp>
      <p:sp>
        <p:nvSpPr>
          <p:cNvPr id="23" name="Text 21"/>
          <p:cNvSpPr/>
          <p:nvPr/>
        </p:nvSpPr>
        <p:spPr>
          <a:xfrm>
            <a:off x="484632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Prévisions matières, suivi des impayés, retraitements CA : tout repose sur des fichiers tableur non audités ni versionnés. Le tableur d'Aurélie cache peut-être des retraitements non documentés. En cas de départ, la traçabilité est nulle. Documenter avant d'automatiser — avec un tiers dédié, pas en auto-documentation.</a:t>
            </a:r>
            <a:endParaRPr lang="en-US" sz="1200" dirty="0"/>
          </a:p>
        </p:txBody>
      </p:sp>
      <p:sp>
        <p:nvSpPr>
          <p:cNvPr id="24" name="TextBox 23"/>
          <p:cNvSpPr txBox="1"/>
          <p:nvPr/>
        </p:nvSpPr>
        <p:spPr>
          <a:xfrm>
            <a:off x="228600" y="4980000"/>
            <a:ext cx="8686800" cy="200000"/>
          </a:xfrm>
          <a:prstGeom prst="rect">
            <a:avLst/>
          </a:prstGeom>
          <a:noFill/>
        </p:spPr>
        <p:txBody>
          <a:bodyPr wrap="square">
            <a:spAutoFit/>
          </a:bodyPr>
          <a:lstStyle/>
          <a:p>
            <a:r>
              <a:rPr sz="900" i="1">
                <a:solidFill>
                  <a:srgbClr val="64748B"/>
                </a:solidFill>
              </a:rPr>
              <a:t>➜ Tableau détaillé : maxberko.github.io/rampal-latour-accounting/tableau.html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457200"/>
            <a:ext cx="8229600" cy="64008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Recommandation — horizon 18 mois</a:t>
            </a:r>
            <a:endParaRPr lang="en-US" sz="2600" dirty="0"/>
          </a:p>
        </p:txBody>
      </p:sp>
      <p:sp>
        <p:nvSpPr>
          <p:cNvPr id="4" name="Shape 2"/>
          <p:cNvSpPr/>
          <p:nvPr/>
        </p:nvSpPr>
        <p:spPr>
          <a:xfrm>
            <a:off x="457200" y="1325880"/>
            <a:ext cx="530352" cy="530352"/>
          </a:xfrm>
          <a:prstGeom prst="ellipse">
            <a:avLst/>
          </a:prstGeom>
          <a:solidFill>
            <a:srgbClr val="3B6D11"/>
          </a:solidFill>
          <a:ln w="12700">
            <a:solidFill>
              <a:srgbClr val="3B6D11"/>
            </a:solidFill>
            <a:prstDash val="solid"/>
          </a:ln>
        </p:spPr>
      </p:sp>
      <p:sp>
        <p:nvSpPr>
          <p:cNvPr id="5" name="Text 3"/>
          <p:cNvSpPr/>
          <p:nvPr/>
        </p:nvSpPr>
        <p:spPr>
          <a:xfrm>
            <a:off x="457200" y="1325880"/>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6" name="Text 4"/>
          <p:cNvSpPr/>
          <p:nvPr/>
        </p:nvSpPr>
        <p:spPr>
          <a:xfrm>
            <a:off x="1188720" y="1325880"/>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Maintenant</a:t>
            </a:r>
            <a:endParaRPr lang="en-US" sz="1400" dirty="0"/>
          </a:p>
        </p:txBody>
      </p:sp>
      <p:sp>
        <p:nvSpPr>
          <p:cNvPr id="7" name="Text 5"/>
          <p:cNvSpPr/>
          <p:nvPr/>
        </p:nvSpPr>
        <p:spPr>
          <a:xfrm>
            <a:off x="1188720" y="1618488"/>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Documenter les procédures (avec un tiers dédié). Cadrer le connecteur Prestashop→Sage (audit versions). Lancer le rapprochement bancaire canal par canal. Coûts non chiffrables sans audit préalable des versions logicielles.</a:t>
            </a:r>
            <a:endParaRPr lang="en-US" sz="1200" dirty="0"/>
          </a:p>
        </p:txBody>
      </p:sp>
      <p:sp>
        <p:nvSpPr>
          <p:cNvPr id="8" name="Shape 6"/>
          <p:cNvSpPr/>
          <p:nvPr/>
        </p:nvSpPr>
        <p:spPr>
          <a:xfrm>
            <a:off x="676656" y="1892808"/>
            <a:ext cx="0" cy="512064"/>
          </a:xfrm>
          <a:prstGeom prst="line">
            <a:avLst/>
          </a:prstGeom>
          <a:noFill/>
          <a:ln w="12700">
            <a:solidFill>
              <a:srgbClr val="3A5A6A"/>
            </a:solidFill>
            <a:prstDash val="dash"/>
          </a:ln>
        </p:spPr>
      </p:sp>
      <p:sp>
        <p:nvSpPr>
          <p:cNvPr id="9" name="Shape 7"/>
          <p:cNvSpPr/>
          <p:nvPr/>
        </p:nvSpPr>
        <p:spPr>
          <a:xfrm>
            <a:off x="457200" y="2404872"/>
            <a:ext cx="530352" cy="530352"/>
          </a:xfrm>
          <a:prstGeom prst="ellipse">
            <a:avLst/>
          </a:prstGeom>
          <a:solidFill>
            <a:srgbClr val="1A56A0"/>
          </a:solidFill>
          <a:ln w="12700">
            <a:solidFill>
              <a:srgbClr val="1A56A0"/>
            </a:solidFill>
            <a:prstDash val="solid"/>
          </a:ln>
        </p:spPr>
      </p:sp>
      <p:sp>
        <p:nvSpPr>
          <p:cNvPr id="10" name="Text 8"/>
          <p:cNvSpPr/>
          <p:nvPr/>
        </p:nvSpPr>
        <p:spPr>
          <a:xfrm>
            <a:off x="457200" y="240487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1" name="Text 9"/>
          <p:cNvSpPr/>
          <p:nvPr/>
        </p:nvSpPr>
        <p:spPr>
          <a:xfrm>
            <a:off x="1188720" y="2404872"/>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Dans 3 mois</a:t>
            </a:r>
            <a:endParaRPr lang="en-US" sz="1400" dirty="0"/>
          </a:p>
        </p:txBody>
      </p:sp>
      <p:sp>
        <p:nvSpPr>
          <p:cNvPr id="12" name="Text 10"/>
          <p:cNvSpPr/>
          <p:nvPr/>
        </p:nvSpPr>
        <p:spPr>
          <a:xfrm>
            <a:off x="1188720" y="2697480"/>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Engager le chantier facturation électronique avec l'expert-comptable. Vérifier le calendrier réglementaire (a déjà glissé). Sélectionner une PDP — marché jeune, prévoir de la marge.</a:t>
            </a:r>
            <a:endParaRPr lang="en-US" sz="1200" dirty="0"/>
          </a:p>
        </p:txBody>
      </p:sp>
      <p:sp>
        <p:nvSpPr>
          <p:cNvPr id="13" name="Shape 11"/>
          <p:cNvSpPr/>
          <p:nvPr/>
        </p:nvSpPr>
        <p:spPr>
          <a:xfrm>
            <a:off x="676656" y="2971800"/>
            <a:ext cx="0" cy="512064"/>
          </a:xfrm>
          <a:prstGeom prst="line">
            <a:avLst/>
          </a:prstGeom>
          <a:noFill/>
          <a:ln w="12700">
            <a:solidFill>
              <a:srgbClr val="3A5A6A"/>
            </a:solidFill>
            <a:prstDash val="dash"/>
          </a:ln>
        </p:spPr>
      </p:sp>
      <p:sp>
        <p:nvSpPr>
          <p:cNvPr id="14" name="Shape 12"/>
          <p:cNvSpPr/>
          <p:nvPr/>
        </p:nvSpPr>
        <p:spPr>
          <a:xfrm>
            <a:off x="457200" y="3483864"/>
            <a:ext cx="530352" cy="530352"/>
          </a:xfrm>
          <a:prstGeom prst="ellipse">
            <a:avLst/>
          </a:prstGeom>
          <a:solidFill>
            <a:srgbClr val="B45309"/>
          </a:solidFill>
          <a:ln w="12700">
            <a:solidFill>
              <a:srgbClr val="B45309"/>
            </a:solidFill>
            <a:prstDash val="solid"/>
          </a:ln>
        </p:spPr>
      </p:sp>
      <p:sp>
        <p:nvSpPr>
          <p:cNvPr id="15" name="Text 13"/>
          <p:cNvSpPr/>
          <p:nvPr/>
        </p:nvSpPr>
        <p:spPr>
          <a:xfrm>
            <a:off x="457200" y="348386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6" name="Text 14"/>
          <p:cNvSpPr/>
          <p:nvPr/>
        </p:nvSpPr>
        <p:spPr>
          <a:xfrm>
            <a:off x="1188720" y="3483864"/>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À 18 mois</a:t>
            </a:r>
            <a:endParaRPr lang="en-US" sz="1400" dirty="0"/>
          </a:p>
        </p:txBody>
      </p:sp>
      <p:sp>
        <p:nvSpPr>
          <p:cNvPr id="17" name="Text 15"/>
          <p:cNvSpPr/>
          <p:nvPr/>
        </p:nvSpPr>
        <p:spPr>
          <a:xfrm>
            <a:off x="1188720" y="3776472"/>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Évaluer la migration ERP unifiée — uniquement si flux stabilisés, procédures documentées et budget validé. Projet à fort risque de dérapage (délais doublent fréquemment en PME). Pennylane envisageable pour CDP seul, pas pour Rampal.</a:t>
            </a:r>
            <a:endParaRPr lang="en-US" sz="1200" dirty="0"/>
          </a:p>
        </p:txBody>
      </p:sp>
      <p:sp>
        <p:nvSpPr>
          <p:cNvPr id="18" name="Text 16"/>
          <p:cNvSpPr/>
          <p:nvPr/>
        </p:nvSpPr>
        <p:spPr>
          <a:xfrm>
            <a:off x="457200" y="4572000"/>
            <a:ext cx="8229600" cy="365760"/>
          </a:xfrm>
          <a:prstGeom prst="rect">
            <a:avLst/>
          </a:prstGeom>
          <a:noFill/>
          <a:ln/>
        </p:spPr>
        <p:txBody>
          <a:bodyPr wrap="square" lIns="0" tIns="0" rIns="0" bIns="0" rtlCol="0" anchor="ctr"/>
          <a:lstStyle/>
          <a:p>
            <a:pPr indent="0" marL="0">
              <a:buNone/>
            </a:pPr>
            <a:r>
              <a:rPr lang="en-US" sz="1000" i="1" dirty="0">
                <a:solidFill>
                  <a:srgbClr val="607D8B"/>
                </a:solidFill>
                <a:latin typeface="Calibri" pitchFamily="34" charset="0"/>
                <a:ea typeface="Calibri" pitchFamily="34" charset="-122"/>
                <a:cs typeface="Calibri" pitchFamily="34" charset="-120"/>
              </a:rPr>
              <a:t>Le problème n'est pas un problème de logiciel — c'est un problème de processus. Changer d'outil sans avoir résolu ça, c'est migrer le chaos.</a:t>
            </a:r>
            <a:endParaRPr lang="en-US" sz="10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1A2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0"/>
            <a:ext cx="8412480" cy="822960"/>
          </a:xfrm>
          <a:prstGeom prst="rect">
            <a:avLst/>
          </a:prstGeom>
          <a:noFill/>
        </p:spPr>
        <p:txBody>
          <a:bodyPr wrap="square">
            <a:spAutoFit/>
          </a:bodyPr>
          <a:lstStyle/>
          <a:p>
            <a:pPr algn="l"/>
            <a:r>
              <a:rPr sz="2200" b="1">
                <a:solidFill>
                  <a:srgbClr val="FFFFFF"/>
                </a:solidFill>
              </a:rPr>
              <a:t>Réalité terrain — Gains immédiats</a:t>
            </a:r>
          </a:p>
        </p:txBody>
      </p:sp>
      <p:sp>
        <p:nvSpPr>
          <p:cNvPr id="4" name="Rectangle 3"/>
          <p:cNvSpPr/>
          <p:nvPr/>
        </p:nvSpPr>
        <p:spPr>
          <a:xfrm>
            <a:off x="22860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097280"/>
            <a:ext cx="2292000" cy="228600"/>
          </a:xfrm>
          <a:prstGeom prst="rect">
            <a:avLst/>
          </a:prstGeom>
          <a:solidFill>
            <a:srgbClr val="EAF3D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3B6D11"/>
                </a:solidFill>
              </a:rPr>
              <a:t>Connecteur Prestashop→Sage</a:t>
            </a:r>
          </a:p>
        </p:txBody>
      </p:sp>
      <p:sp>
        <p:nvSpPr>
          <p:cNvPr id="6" name="TextBox 5"/>
          <p:cNvSpPr txBox="1"/>
          <p:nvPr/>
        </p:nvSpPr>
        <p:spPr>
          <a:xfrm>
            <a:off x="365760" y="1371600"/>
            <a:ext cx="3931920" cy="320040"/>
          </a:xfrm>
          <a:prstGeom prst="rect">
            <a:avLst/>
          </a:prstGeom>
          <a:noFill/>
        </p:spPr>
        <p:txBody>
          <a:bodyPr wrap="square">
            <a:spAutoFit/>
          </a:bodyPr>
          <a:lstStyle/>
          <a:p>
            <a:r>
              <a:rPr sz="1200" b="1">
                <a:solidFill>
                  <a:srgbClr val="111111"/>
                </a:solidFill>
              </a:rPr>
              <a:t>Compatibilité non vérifiée</a:t>
            </a:r>
          </a:p>
        </p:txBody>
      </p:sp>
      <p:sp>
        <p:nvSpPr>
          <p:cNvPr id="7" name="TextBox 6"/>
          <p:cNvSpPr txBox="1"/>
          <p:nvPr/>
        </p:nvSpPr>
        <p:spPr>
          <a:xfrm>
            <a:off x="365760" y="1691640"/>
            <a:ext cx="3931920" cy="1051560"/>
          </a:xfrm>
          <a:prstGeom prst="rect">
            <a:avLst/>
          </a:prstGeom>
          <a:noFill/>
        </p:spPr>
        <p:txBody>
          <a:bodyPr wrap="square">
            <a:spAutoFit/>
          </a:bodyPr>
          <a:lstStyle/>
          <a:p>
            <a:r>
              <a:rPr sz="1000">
                <a:solidFill>
                  <a:srgbClr val="444444"/>
                </a:solidFill>
              </a:rPr>
              <a:t>L'écosystème des connecteurs Prestashop→Sage est fragmenté. Si les versions sont anciennes ou le plan comptable non standard, il faudra un développement sur mesure. Délai réaliste : 2 à 4 mois avec double saisie en parallèle.</a:t>
            </a:r>
          </a:p>
        </p:txBody>
      </p:sp>
      <p:sp>
        <p:nvSpPr>
          <p:cNvPr id="8" name="Rectangle 7"/>
          <p:cNvSpPr/>
          <p:nvPr/>
        </p:nvSpPr>
        <p:spPr>
          <a:xfrm>
            <a:off x="470916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846320" y="1097280"/>
            <a:ext cx="1964000" cy="228600"/>
          </a:xfrm>
          <a:prstGeom prst="rect">
            <a:avLst/>
          </a:prstGeom>
          <a:solidFill>
            <a:srgbClr val="EAF3D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3B6D11"/>
                </a:solidFill>
              </a:rPr>
              <a:t>Rapprochement bancaire</a:t>
            </a:r>
          </a:p>
        </p:txBody>
      </p:sp>
      <p:sp>
        <p:nvSpPr>
          <p:cNvPr id="10" name="TextBox 9"/>
          <p:cNvSpPr txBox="1"/>
          <p:nvPr/>
        </p:nvSpPr>
        <p:spPr>
          <a:xfrm>
            <a:off x="4846320" y="1371600"/>
            <a:ext cx="3931920" cy="320040"/>
          </a:xfrm>
          <a:prstGeom prst="rect">
            <a:avLst/>
          </a:prstGeom>
          <a:noFill/>
        </p:spPr>
        <p:txBody>
          <a:bodyPr wrap="square">
            <a:spAutoFit/>
          </a:bodyPr>
          <a:lstStyle/>
          <a:p>
            <a:r>
              <a:rPr sz="1200" b="1">
                <a:solidFill>
                  <a:srgbClr val="111111"/>
                </a:solidFill>
              </a:rPr>
              <a:t>4 canaux ≠ 4 logiques</a:t>
            </a:r>
          </a:p>
        </p:txBody>
      </p:sp>
      <p:sp>
        <p:nvSpPr>
          <p:cNvPr id="11" name="TextBox 10"/>
          <p:cNvSpPr txBox="1"/>
          <p:nvPr/>
        </p:nvSpPr>
        <p:spPr>
          <a:xfrm>
            <a:off x="4846320" y="1691640"/>
            <a:ext cx="3931920" cy="1051560"/>
          </a:xfrm>
          <a:prstGeom prst="rect">
            <a:avLst/>
          </a:prstGeom>
          <a:noFill/>
        </p:spPr>
        <p:txBody>
          <a:bodyPr wrap="square">
            <a:spAutoFit/>
          </a:bodyPr>
          <a:lstStyle/>
          <a:p>
            <a:r>
              <a:rPr sz="1000">
                <a:solidFill>
                  <a:srgbClr val="444444"/>
                </a:solidFill>
              </a:rPr>
              <a:t>Stripe, Amazon, Paypal et CB ont chacun leur propre format. Viser 80% de lettrage auto serait déjà un bon résultat. Le gain de 3-4h/semaine est une estimation non mesurée.</a:t>
            </a:r>
          </a:p>
        </p:txBody>
      </p:sp>
      <p:sp>
        <p:nvSpPr>
          <p:cNvPr id="12" name="Rectangle 11"/>
          <p:cNvSpPr/>
          <p:nvPr/>
        </p:nvSpPr>
        <p:spPr>
          <a:xfrm>
            <a:off x="228600" y="30175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154680"/>
            <a:ext cx="1226000" cy="228600"/>
          </a:xfrm>
          <a:prstGeom prst="rect">
            <a:avLst/>
          </a:prstGeom>
          <a:solidFill>
            <a:srgbClr val="EAF3D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3B6D11"/>
                </a:solidFill>
              </a:rPr>
              <a:t>Flux Odoo→LSI</a:t>
            </a:r>
          </a:p>
        </p:txBody>
      </p:sp>
      <p:sp>
        <p:nvSpPr>
          <p:cNvPr id="14" name="TextBox 13"/>
          <p:cNvSpPr txBox="1"/>
          <p:nvPr/>
        </p:nvSpPr>
        <p:spPr>
          <a:xfrm>
            <a:off x="365760" y="3429000"/>
            <a:ext cx="3931920" cy="320040"/>
          </a:xfrm>
          <a:prstGeom prst="rect">
            <a:avLst/>
          </a:prstGeom>
          <a:noFill/>
        </p:spPr>
        <p:txBody>
          <a:bodyPr wrap="square">
            <a:spAutoFit/>
          </a:bodyPr>
          <a:lstStyle/>
          <a:p>
            <a:r>
              <a:rPr sz="1200" b="1">
                <a:solidFill>
                  <a:srgbClr val="111111"/>
                </a:solidFill>
              </a:rPr>
              <a:t>Le tableur cache des retraitements</a:t>
            </a:r>
          </a:p>
        </p:txBody>
      </p:sp>
      <p:sp>
        <p:nvSpPr>
          <p:cNvPr id="15" name="TextBox 14"/>
          <p:cNvSpPr txBox="1"/>
          <p:nvPr/>
        </p:nvSpPr>
        <p:spPr>
          <a:xfrm>
            <a:off x="365760" y="3749040"/>
            <a:ext cx="3931920" cy="1051560"/>
          </a:xfrm>
          <a:prstGeom prst="rect">
            <a:avLst/>
          </a:prstGeom>
          <a:noFill/>
        </p:spPr>
        <p:txBody>
          <a:bodyPr wrap="square">
            <a:spAutoFit/>
          </a:bodyPr>
          <a:lstStyle/>
          <a:p>
            <a:r>
              <a:rPr sz="1000">
                <a:solidFill>
                  <a:srgbClr val="444444"/>
                </a:solidFill>
              </a:rPr>
              <a:t>Avant de supprimer le tableur d'Aurélie, il faut documenter exactement ce qu'il fait. Il applique peut-être des regroupements ou corrections que le flux direct ne reproduira pas.</a:t>
            </a:r>
          </a:p>
        </p:txBody>
      </p:sp>
      <p:sp>
        <p:nvSpPr>
          <p:cNvPr id="16" name="Rectangle 15"/>
          <p:cNvSpPr/>
          <p:nvPr/>
        </p:nvSpPr>
        <p:spPr>
          <a:xfrm>
            <a:off x="4709160" y="30175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3154680"/>
            <a:ext cx="2128000" cy="228600"/>
          </a:xfrm>
          <a:prstGeom prst="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64748B"/>
                </a:solidFill>
              </a:rPr>
              <a:t>Documentation procédures</a:t>
            </a:r>
          </a:p>
        </p:txBody>
      </p:sp>
      <p:sp>
        <p:nvSpPr>
          <p:cNvPr id="18" name="TextBox 17"/>
          <p:cNvSpPr txBox="1"/>
          <p:nvPr/>
        </p:nvSpPr>
        <p:spPr>
          <a:xfrm>
            <a:off x="4846320" y="3429000"/>
            <a:ext cx="3931920" cy="320040"/>
          </a:xfrm>
          <a:prstGeom prst="rect">
            <a:avLst/>
          </a:prstGeom>
          <a:noFill/>
        </p:spPr>
        <p:txBody>
          <a:bodyPr wrap="square">
            <a:spAutoFit/>
          </a:bodyPr>
          <a:lstStyle/>
          <a:p>
            <a:r>
              <a:rPr sz="1200" b="1">
                <a:solidFill>
                  <a:srgbClr val="111111"/>
                </a:solidFill>
              </a:rPr>
              <a:t>Le chantier qui n'aboutit jamais</a:t>
            </a:r>
          </a:p>
        </p:txBody>
      </p:sp>
      <p:sp>
        <p:nvSpPr>
          <p:cNvPr id="19" name="TextBox 18"/>
          <p:cNvSpPr txBox="1"/>
          <p:nvPr/>
        </p:nvSpPr>
        <p:spPr>
          <a:xfrm>
            <a:off x="4846320" y="3749040"/>
            <a:ext cx="3931920" cy="1051560"/>
          </a:xfrm>
          <a:prstGeom prst="rect">
            <a:avLst/>
          </a:prstGeom>
          <a:noFill/>
        </p:spPr>
        <p:txBody>
          <a:bodyPr wrap="square">
            <a:spAutoFit/>
          </a:bodyPr>
          <a:lstStyle/>
          <a:p>
            <a:r>
              <a:rPr sz="1000">
                <a:solidFill>
                  <a:srgbClr val="444444"/>
                </a:solidFill>
              </a:rPr>
              <a:t>Documenter ses propres procédures est une tâche ingrate. Il faut un tiers dédié qui s'assoit à côté d'Aurélie et Gaëlle et rédige pour elles. Sans contrainte externe, ça restera une ligne dans un plan d'action.</a:t>
            </a:r>
          </a:p>
        </p:txBody>
      </p:sp>
      <p:sp>
        <p:nvSpPr>
          <p:cNvPr id="20" name="TextBox 19"/>
          <p:cNvSpPr txBox="1"/>
          <p:nvPr/>
        </p:nvSpPr>
        <p:spPr>
          <a:xfrm>
            <a:off x="274320" y="4900000"/>
            <a:ext cx="8595360" cy="200000"/>
          </a:xfrm>
          <a:prstGeom prst="rect">
            <a:avLst/>
          </a:prstGeom>
          <a:noFill/>
        </p:spPr>
        <p:txBody>
          <a:bodyPr wrap="square">
            <a:spAutoFit/>
          </a:bodyPr>
          <a:lstStyle/>
          <a:p>
            <a:r>
              <a:rPr sz="900" i="1">
                <a:solidFill>
                  <a:srgbClr val="64748B"/>
                </a:solidFill>
              </a:rPr>
              <a:t>➜ Détails : maxberko.github.io/rampal-latour-accounting/tableau.html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1A2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0"/>
            <a:ext cx="8412480" cy="822960"/>
          </a:xfrm>
          <a:prstGeom prst="rect">
            <a:avLst/>
          </a:prstGeom>
          <a:noFill/>
        </p:spPr>
        <p:txBody>
          <a:bodyPr wrap="square">
            <a:spAutoFit/>
          </a:bodyPr>
          <a:lstStyle/>
          <a:p>
            <a:pPr algn="l"/>
            <a:r>
              <a:rPr sz="2200" b="1">
                <a:solidFill>
                  <a:srgbClr val="FFFFFF"/>
                </a:solidFill>
              </a:rPr>
              <a:t>Réalité terrain — Chantiers structurants</a:t>
            </a:r>
          </a:p>
        </p:txBody>
      </p:sp>
      <p:sp>
        <p:nvSpPr>
          <p:cNvPr id="4" name="Rectangle 3"/>
          <p:cNvSpPr/>
          <p:nvPr/>
        </p:nvSpPr>
        <p:spPr>
          <a:xfrm>
            <a:off x="22860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097280"/>
            <a:ext cx="2538000" cy="228600"/>
          </a:xfrm>
          <a:prstGeom prst="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B45309"/>
                </a:solidFill>
              </a:rPr>
              <a:t>Facturation électronique 2026</a:t>
            </a:r>
          </a:p>
        </p:txBody>
      </p:sp>
      <p:sp>
        <p:nvSpPr>
          <p:cNvPr id="6" name="TextBox 5"/>
          <p:cNvSpPr txBox="1"/>
          <p:nvPr/>
        </p:nvSpPr>
        <p:spPr>
          <a:xfrm>
            <a:off x="365760" y="1371600"/>
            <a:ext cx="3931920" cy="320040"/>
          </a:xfrm>
          <a:prstGeom prst="rect">
            <a:avLst/>
          </a:prstGeom>
          <a:noFill/>
        </p:spPr>
        <p:txBody>
          <a:bodyPr wrap="square">
            <a:spAutoFit/>
          </a:bodyPr>
          <a:lstStyle/>
          <a:p>
            <a:r>
              <a:rPr sz="1200" b="1">
                <a:solidFill>
                  <a:srgbClr val="111111"/>
                </a:solidFill>
              </a:rPr>
              <a:t>Calendrier instable, marché jeune</a:t>
            </a:r>
          </a:p>
        </p:txBody>
      </p:sp>
      <p:sp>
        <p:nvSpPr>
          <p:cNvPr id="7" name="TextBox 6"/>
          <p:cNvSpPr txBox="1"/>
          <p:nvPr/>
        </p:nvSpPr>
        <p:spPr>
          <a:xfrm>
            <a:off x="365760" y="1691640"/>
            <a:ext cx="3931920" cy="1051560"/>
          </a:xfrm>
          <a:prstGeom prst="rect">
            <a:avLst/>
          </a:prstGeom>
          <a:noFill/>
        </p:spPr>
        <p:txBody>
          <a:bodyPr wrap="square">
            <a:spAutoFit/>
          </a:bodyPr>
          <a:lstStyle/>
          <a:p>
            <a:r>
              <a:rPr sz="1000">
                <a:solidFill>
                  <a:srgbClr val="444444"/>
                </a:solidFill>
              </a:rPr>
              <a:t>Le calendrier a déjà glissé (prévu initialement en 2024). Le marché des PDP est jeune, les offres évoluent vite. Risque de s'engager avec un acteur qui ne maintiendra pas son agrément. L'expert-comptable est le premier interlocuteur.</a:t>
            </a:r>
          </a:p>
        </p:txBody>
      </p:sp>
      <p:sp>
        <p:nvSpPr>
          <p:cNvPr id="8" name="Rectangle 7"/>
          <p:cNvSpPr/>
          <p:nvPr/>
        </p:nvSpPr>
        <p:spPr>
          <a:xfrm>
            <a:off x="470916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846320" y="1097280"/>
            <a:ext cx="1882000" cy="228600"/>
          </a:xfrm>
          <a:prstGeom prst="rect">
            <a:avLst/>
          </a:prstGeom>
          <a:solidFill>
            <a:srgbClr val="FEECE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991F1F"/>
                </a:solidFill>
              </a:rPr>
              <a:t>Migration ERP unifiée</a:t>
            </a:r>
          </a:p>
        </p:txBody>
      </p:sp>
      <p:sp>
        <p:nvSpPr>
          <p:cNvPr id="10" name="TextBox 9"/>
          <p:cNvSpPr txBox="1"/>
          <p:nvPr/>
        </p:nvSpPr>
        <p:spPr>
          <a:xfrm>
            <a:off x="4846320" y="1371600"/>
            <a:ext cx="3931920" cy="320040"/>
          </a:xfrm>
          <a:prstGeom prst="rect">
            <a:avLst/>
          </a:prstGeom>
          <a:noFill/>
        </p:spPr>
        <p:txBody>
          <a:bodyPr wrap="square">
            <a:spAutoFit/>
          </a:bodyPr>
          <a:lstStyle/>
          <a:p>
            <a:r>
              <a:rPr sz="1200" b="1">
                <a:solidFill>
                  <a:srgbClr val="111111"/>
                </a:solidFill>
              </a:rPr>
              <a:t>Projet à fort risque de dérapage</a:t>
            </a:r>
          </a:p>
        </p:txBody>
      </p:sp>
      <p:sp>
        <p:nvSpPr>
          <p:cNvPr id="11" name="TextBox 10"/>
          <p:cNvSpPr txBox="1"/>
          <p:nvPr/>
        </p:nvSpPr>
        <p:spPr>
          <a:xfrm>
            <a:off x="4846320" y="1691640"/>
            <a:ext cx="3931920" cy="1051560"/>
          </a:xfrm>
          <a:prstGeom prst="rect">
            <a:avLst/>
          </a:prstGeom>
          <a:noFill/>
        </p:spPr>
        <p:txBody>
          <a:bodyPr wrap="square">
            <a:spAutoFit/>
          </a:bodyPr>
          <a:lstStyle/>
          <a:p>
            <a:r>
              <a:rPr sz="1000">
                <a:solidFill>
                  <a:srgbClr val="444444"/>
                </a:solidFill>
              </a:rPr>
              <a:t>6-12 mois de mise en œuvre réelle. Le taux de dérapage des projets ERP en PME est bien documenté : les délais doublent fréquemment. Ne pas engager sans sponsor interne fort, procédures documentées et budget validé.</a:t>
            </a:r>
          </a:p>
        </p:txBody>
      </p:sp>
      <p:sp>
        <p:nvSpPr>
          <p:cNvPr id="12" name="Rectangle 11"/>
          <p:cNvSpPr/>
          <p:nvPr/>
        </p:nvSpPr>
        <p:spPr>
          <a:xfrm>
            <a:off x="228600" y="30175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154680"/>
            <a:ext cx="1718000" cy="228600"/>
          </a:xfrm>
          <a:prstGeom prst="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B45309"/>
                </a:solidFill>
              </a:rPr>
              <a:t>Commandes B2B / EDI</a:t>
            </a:r>
          </a:p>
        </p:txBody>
      </p:sp>
      <p:sp>
        <p:nvSpPr>
          <p:cNvPr id="14" name="TextBox 13"/>
          <p:cNvSpPr txBox="1"/>
          <p:nvPr/>
        </p:nvSpPr>
        <p:spPr>
          <a:xfrm>
            <a:off x="365760" y="3429000"/>
            <a:ext cx="3931920" cy="320040"/>
          </a:xfrm>
          <a:prstGeom prst="rect">
            <a:avLst/>
          </a:prstGeom>
          <a:noFill/>
        </p:spPr>
        <p:txBody>
          <a:bodyPr wrap="square">
            <a:spAutoFit/>
          </a:bodyPr>
          <a:lstStyle/>
          <a:p>
            <a:r>
              <a:rPr sz="1200" b="1">
                <a:solidFill>
                  <a:srgbClr val="111111"/>
                </a:solidFill>
              </a:rPr>
              <a:t>Volume inconnu = ROI inconnu</a:t>
            </a:r>
          </a:p>
        </p:txBody>
      </p:sp>
      <p:sp>
        <p:nvSpPr>
          <p:cNvPr id="15" name="TextBox 14"/>
          <p:cNvSpPr txBox="1"/>
          <p:nvPr/>
        </p:nvSpPr>
        <p:spPr>
          <a:xfrm>
            <a:off x="365760" y="3749040"/>
            <a:ext cx="3931920" cy="1051560"/>
          </a:xfrm>
          <a:prstGeom prst="rect">
            <a:avLst/>
          </a:prstGeom>
          <a:noFill/>
        </p:spPr>
        <p:txBody>
          <a:bodyPr wrap="square">
            <a:spAutoFit/>
          </a:bodyPr>
          <a:lstStyle/>
          <a:p>
            <a:r>
              <a:rPr sz="1000">
                <a:solidFill>
                  <a:srgbClr val="444444"/>
                </a:solidFill>
              </a:rPr>
              <a:t>L'EDI suppose que les clients B2B soient équipés et volontaires. Si CDP traite 10 commandes/semaine, ça ne se justifie pas. Si c'est 50+, la question se pose. Ce volume n'est pas connu.</a:t>
            </a:r>
          </a:p>
        </p:txBody>
      </p:sp>
      <p:sp>
        <p:nvSpPr>
          <p:cNvPr id="16" name="Rectangle 15"/>
          <p:cNvSpPr/>
          <p:nvPr/>
        </p:nvSpPr>
        <p:spPr>
          <a:xfrm>
            <a:off x="4709160" y="30175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3154680"/>
            <a:ext cx="2128000" cy="228600"/>
          </a:xfrm>
          <a:prstGeom prst="rect">
            <a:avLst/>
          </a:prstGeom>
          <a:solidFill>
            <a:srgbClr val="F7F7F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64748B"/>
                </a:solidFill>
              </a:rPr>
              <a:t>Bons de réception papier</a:t>
            </a:r>
          </a:p>
        </p:txBody>
      </p:sp>
      <p:sp>
        <p:nvSpPr>
          <p:cNvPr id="18" name="TextBox 17"/>
          <p:cNvSpPr txBox="1"/>
          <p:nvPr/>
        </p:nvSpPr>
        <p:spPr>
          <a:xfrm>
            <a:off x="4846320" y="3429000"/>
            <a:ext cx="3931920" cy="320040"/>
          </a:xfrm>
          <a:prstGeom prst="rect">
            <a:avLst/>
          </a:prstGeom>
          <a:noFill/>
        </p:spPr>
        <p:txBody>
          <a:bodyPr wrap="square">
            <a:spAutoFit/>
          </a:bodyPr>
          <a:lstStyle/>
          <a:p>
            <a:r>
              <a:rPr sz="1200" b="1">
                <a:solidFill>
                  <a:srgbClr val="111111"/>
                </a:solidFill>
              </a:rPr>
              <a:t>Pas un projet isolé</a:t>
            </a:r>
          </a:p>
        </p:txBody>
      </p:sp>
      <p:sp>
        <p:nvSpPr>
          <p:cNvPr id="19" name="TextBox 18"/>
          <p:cNvSpPr txBox="1"/>
          <p:nvPr/>
        </p:nvSpPr>
        <p:spPr>
          <a:xfrm>
            <a:off x="4846320" y="3749040"/>
            <a:ext cx="3931920" cy="1051560"/>
          </a:xfrm>
          <a:prstGeom prst="rect">
            <a:avLst/>
          </a:prstGeom>
          <a:noFill/>
        </p:spPr>
        <p:txBody>
          <a:bodyPr wrap="square">
            <a:spAutoFit/>
          </a:bodyPr>
          <a:lstStyle/>
          <a:p>
            <a:r>
              <a:rPr sz="1000">
                <a:solidFill>
                  <a:srgbClr val="444444"/>
                </a:solidFill>
              </a:rPr>
              <a:t>Touche aux habitudes terrain (magasiniers, logistique). Dépend de l'équipement (tablettes, scanners). S'intègre naturellement dans le projet ERP plutôt que d'être traité séparément.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1A2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0"/>
            <a:ext cx="8412480" cy="822960"/>
          </a:xfrm>
          <a:prstGeom prst="rect">
            <a:avLst/>
          </a:prstGeom>
          <a:noFill/>
        </p:spPr>
        <p:txBody>
          <a:bodyPr wrap="square">
            <a:spAutoFit/>
          </a:bodyPr>
          <a:lstStyle/>
          <a:p>
            <a:pPr algn="l"/>
            <a:r>
              <a:rPr sz="2200" b="1">
                <a:solidFill>
                  <a:srgbClr val="FFFFFF"/>
                </a:solidFill>
              </a:rPr>
              <a:t>Question ouverte — Faut-il migrer vers Pennylane ?</a:t>
            </a:r>
          </a:p>
        </p:txBody>
      </p:sp>
      <p:sp>
        <p:nvSpPr>
          <p:cNvPr id="4" name="Rectangle 3"/>
          <p:cNvSpPr/>
          <p:nvPr/>
        </p:nvSpPr>
        <p:spPr>
          <a:xfrm>
            <a:off x="22860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097280"/>
            <a:ext cx="2292000" cy="228600"/>
          </a:xfrm>
          <a:prstGeom prst="rect">
            <a:avLst/>
          </a:prstGeom>
          <a:solidFill>
            <a:srgbClr val="F3F0F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5B21B6"/>
                </a:solidFill>
              </a:rPr>
              <a:t>Ce que Pennylane fait bien</a:t>
            </a:r>
          </a:p>
        </p:txBody>
      </p:sp>
      <p:sp>
        <p:nvSpPr>
          <p:cNvPr id="6" name="TextBox 5"/>
          <p:cNvSpPr txBox="1"/>
          <p:nvPr/>
        </p:nvSpPr>
        <p:spPr>
          <a:xfrm>
            <a:off x="365760" y="1371600"/>
            <a:ext cx="3931920" cy="320040"/>
          </a:xfrm>
          <a:prstGeom prst="rect">
            <a:avLst/>
          </a:prstGeom>
          <a:noFill/>
        </p:spPr>
        <p:txBody>
          <a:bodyPr wrap="square">
            <a:spAutoFit/>
          </a:bodyPr>
          <a:lstStyle/>
          <a:p>
            <a:r>
              <a:rPr sz="1200" b="1">
                <a:solidFill>
                  <a:srgbClr val="111111"/>
                </a:solidFill>
              </a:rPr>
              <a:t>Un outil conçu pour les PME françaises</a:t>
            </a:r>
          </a:p>
        </p:txBody>
      </p:sp>
      <p:sp>
        <p:nvSpPr>
          <p:cNvPr id="7" name="TextBox 6"/>
          <p:cNvSpPr txBox="1"/>
          <p:nvPr/>
        </p:nvSpPr>
        <p:spPr>
          <a:xfrm>
            <a:off x="365760" y="1691640"/>
            <a:ext cx="3931920" cy="1051560"/>
          </a:xfrm>
          <a:prstGeom prst="rect">
            <a:avLst/>
          </a:prstGeom>
          <a:noFill/>
        </p:spPr>
        <p:txBody>
          <a:bodyPr wrap="square">
            <a:spAutoFit/>
          </a:bodyPr>
          <a:lstStyle/>
          <a:p>
            <a:r>
              <a:rPr sz="1000">
                <a:solidFill>
                  <a:srgbClr val="444444"/>
                </a:solidFill>
              </a:rPr>
              <a:t>TVA française, liasse fiscale et obligations légales intégrées nativement. Interface partagée client / expert-comptable. Pour CDP, dont la stack est un empilement de Sage manuel, la promesse est séduisante.</a:t>
            </a:r>
          </a:p>
        </p:txBody>
      </p:sp>
      <p:sp>
        <p:nvSpPr>
          <p:cNvPr id="8" name="Rectangle 7"/>
          <p:cNvSpPr/>
          <p:nvPr/>
        </p:nvSpPr>
        <p:spPr>
          <a:xfrm>
            <a:off x="4709160" y="9601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846320" y="1097280"/>
            <a:ext cx="1718000" cy="228600"/>
          </a:xfrm>
          <a:prstGeom prst="rect">
            <a:avLst/>
          </a:prstGeom>
          <a:solidFill>
            <a:srgbClr val="FEECE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991F1F"/>
                </a:solidFill>
              </a:rPr>
              <a:t>Limite structurelle</a:t>
            </a:r>
          </a:p>
        </p:txBody>
      </p:sp>
      <p:sp>
        <p:nvSpPr>
          <p:cNvPr id="10" name="TextBox 9"/>
          <p:cNvSpPr txBox="1"/>
          <p:nvPr/>
        </p:nvSpPr>
        <p:spPr>
          <a:xfrm>
            <a:off x="4846320" y="1371600"/>
            <a:ext cx="3931920" cy="320040"/>
          </a:xfrm>
          <a:prstGeom prst="rect">
            <a:avLst/>
          </a:prstGeom>
          <a:noFill/>
        </p:spPr>
        <p:txBody>
          <a:bodyPr wrap="square">
            <a:spAutoFit/>
          </a:bodyPr>
          <a:lstStyle/>
          <a:p>
            <a:r>
              <a:rPr sz="1200" b="1">
                <a:solidFill>
                  <a:srgbClr val="111111"/>
                </a:solidFill>
              </a:rPr>
              <a:t>Pas adapté aux flux industriels</a:t>
            </a:r>
          </a:p>
        </p:txBody>
      </p:sp>
      <p:sp>
        <p:nvSpPr>
          <p:cNvPr id="11" name="TextBox 10"/>
          <p:cNvSpPr txBox="1"/>
          <p:nvPr/>
        </p:nvSpPr>
        <p:spPr>
          <a:xfrm>
            <a:off x="4846320" y="1691640"/>
            <a:ext cx="3931920" cy="1051560"/>
          </a:xfrm>
          <a:prstGeom prst="rect">
            <a:avLst/>
          </a:prstGeom>
          <a:noFill/>
        </p:spPr>
        <p:txBody>
          <a:bodyPr wrap="square">
            <a:spAutoFit/>
          </a:bodyPr>
          <a:lstStyle/>
          <a:p>
            <a:r>
              <a:rPr sz="1000">
                <a:solidFill>
                  <a:srgbClr val="444444"/>
                </a:solidFill>
              </a:rPr>
              <a:t>Flux B2B complexes, sous-traitance, achats matières premières avec rapprochement BL/facture, logistique intégrée : Pennylane ne couvre pas. LSI et Quadra chez Rampal existent précisément pour ça.</a:t>
            </a:r>
          </a:p>
        </p:txBody>
      </p:sp>
      <p:sp>
        <p:nvSpPr>
          <p:cNvPr id="12" name="Rectangle 11"/>
          <p:cNvSpPr/>
          <p:nvPr/>
        </p:nvSpPr>
        <p:spPr>
          <a:xfrm>
            <a:off x="228600" y="3017520"/>
            <a:ext cx="4206240" cy="1920240"/>
          </a:xfrm>
          <a:prstGeom prst="rect">
            <a:avLst/>
          </a:prstGeom>
          <a:solidFill>
            <a:srgbClr val="FFFFFF"/>
          </a:solidFill>
          <a:ln w="12700">
            <a:solidFill>
              <a:srgbClr val="E8E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154680"/>
            <a:ext cx="1636000" cy="228600"/>
          </a:xfrm>
          <a:prstGeom prst="rect">
            <a:avLst/>
          </a:prstGeom>
          <a:solidFill>
            <a:srgbClr val="FEF3E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B45309"/>
                </a:solidFill>
              </a:rPr>
              <a:t>Contrainte externe</a:t>
            </a:r>
          </a:p>
        </p:txBody>
      </p:sp>
      <p:sp>
        <p:nvSpPr>
          <p:cNvPr id="14" name="TextBox 13"/>
          <p:cNvSpPr txBox="1"/>
          <p:nvPr/>
        </p:nvSpPr>
        <p:spPr>
          <a:xfrm>
            <a:off x="365760" y="3429000"/>
            <a:ext cx="3931920" cy="320040"/>
          </a:xfrm>
          <a:prstGeom prst="rect">
            <a:avLst/>
          </a:prstGeom>
          <a:noFill/>
        </p:spPr>
        <p:txBody>
          <a:bodyPr wrap="square">
            <a:spAutoFit/>
          </a:bodyPr>
          <a:lstStyle/>
          <a:p>
            <a:r>
              <a:rPr sz="1200" b="1">
                <a:solidFill>
                  <a:srgbClr val="111111"/>
                </a:solidFill>
              </a:rPr>
              <a:t>Le cabinet comptable doit être partant</a:t>
            </a:r>
          </a:p>
        </p:txBody>
      </p:sp>
      <p:sp>
        <p:nvSpPr>
          <p:cNvPr id="15" name="TextBox 14"/>
          <p:cNvSpPr txBox="1"/>
          <p:nvPr/>
        </p:nvSpPr>
        <p:spPr>
          <a:xfrm>
            <a:off x="365760" y="3749040"/>
            <a:ext cx="3931920" cy="1051560"/>
          </a:xfrm>
          <a:prstGeom prst="rect">
            <a:avLst/>
          </a:prstGeom>
          <a:noFill/>
        </p:spPr>
        <p:txBody>
          <a:bodyPr wrap="square">
            <a:spAutoFit/>
          </a:bodyPr>
          <a:lstStyle/>
          <a:p>
            <a:r>
              <a:rPr sz="1000">
                <a:solidFill>
                  <a:srgbClr val="444444"/>
                </a:solidFill>
              </a:rPr>
              <a:t>Pennylane repositionne l'expert-comptable comme utilisateur de la plateforme. Le cabinet doit être compatible et volontaire pour changer ses outils. Ce n'est pas acquis.</a:t>
            </a:r>
          </a:p>
        </p:txBody>
      </p:sp>
      <p:sp>
        <p:nvSpPr>
          <p:cNvPr id="16" name="Rectangle 15"/>
          <p:cNvSpPr/>
          <p:nvPr/>
        </p:nvSpPr>
        <p:spPr>
          <a:xfrm>
            <a:off x="4709160" y="3017520"/>
            <a:ext cx="4206240" cy="1920240"/>
          </a:xfrm>
          <a:prstGeom prst="rect">
            <a:avLst/>
          </a:prstGeom>
          <a:solidFill>
            <a:srgbClr val="FEF3E2"/>
          </a:solidFill>
          <a:ln w="254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3154680"/>
            <a:ext cx="3840480" cy="274320"/>
          </a:xfrm>
          <a:prstGeom prst="rect">
            <a:avLst/>
          </a:prstGeom>
          <a:noFill/>
        </p:spPr>
        <p:txBody>
          <a:bodyPr wrap="square">
            <a:spAutoFit/>
          </a:bodyPr>
          <a:lstStyle/>
          <a:p>
            <a:r>
              <a:rPr sz="1000" b="1">
                <a:solidFill>
                  <a:srgbClr val="B45309"/>
                </a:solidFill>
              </a:rPr>
              <a:t>VERDICT</a:t>
            </a:r>
          </a:p>
        </p:txBody>
      </p:sp>
      <p:sp>
        <p:nvSpPr>
          <p:cNvPr id="18" name="TextBox 17"/>
          <p:cNvSpPr txBox="1"/>
          <p:nvPr/>
        </p:nvSpPr>
        <p:spPr>
          <a:xfrm>
            <a:off x="4892040" y="3474720"/>
            <a:ext cx="3840480" cy="1325880"/>
          </a:xfrm>
          <a:prstGeom prst="rect">
            <a:avLst/>
          </a:prstGeom>
          <a:noFill/>
        </p:spPr>
        <p:txBody>
          <a:bodyPr wrap="square">
            <a:spAutoFit/>
          </a:bodyPr>
          <a:lstStyle/>
          <a:p>
            <a:r>
              <a:rPr sz="1050" b="1">
                <a:solidFill>
                  <a:srgbClr val="78350F"/>
                </a:solidFill>
              </a:rPr>
              <a:t>Pennylane : ni rejeté ni prioritaire. Envisageable pour CDP seul, sur les flux simples. Pour Rampal, la réponse est ailleurs. Le problème du groupe n'est pas un problème de logiciel — c'est un problème de processus.</a:t>
            </a:r>
          </a:p>
        </p:txBody>
      </p:sp>
      <p:sp>
        <p:nvSpPr>
          <p:cNvPr id="19" name="TextBox 18"/>
          <p:cNvSpPr txBox="1"/>
          <p:nvPr/>
        </p:nvSpPr>
        <p:spPr>
          <a:xfrm>
            <a:off x="274320" y="4900000"/>
            <a:ext cx="8595360" cy="200000"/>
          </a:xfrm>
          <a:prstGeom prst="rect">
            <a:avLst/>
          </a:prstGeom>
          <a:noFill/>
        </p:spPr>
        <p:txBody>
          <a:bodyPr wrap="square">
            <a:spAutoFit/>
          </a:bodyPr>
          <a:lstStyle/>
          <a:p>
            <a:r>
              <a:rPr sz="900" i="1">
                <a:solidFill>
                  <a:srgbClr val="64748B"/>
                </a:solidFill>
              </a:rPr>
              <a:t>➜ Détails : maxberko.github.io/rampal-latour-accounting/synthese.html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822960"/>
          </a:xfrm>
          <a:prstGeom prst="rect">
            <a:avLst/>
          </a:prstGeom>
          <a:solidFill>
            <a:srgbClr val="1A2C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0"/>
            <a:ext cx="8412480" cy="822960"/>
          </a:xfrm>
          <a:prstGeom prst="rect">
            <a:avLst/>
          </a:prstGeom>
          <a:noFill/>
        </p:spPr>
        <p:txBody>
          <a:bodyPr wrap="square">
            <a:spAutoFit/>
          </a:bodyPr>
          <a:lstStyle/>
          <a:p>
            <a:pPr algn="l"/>
            <a:r>
              <a:rPr sz="2200" b="1">
                <a:solidFill>
                  <a:srgbClr val="FFFFFF"/>
                </a:solidFill>
              </a:rPr>
              <a:t>Hypothèses clés — à vérifier avant toute décision</a:t>
            </a:r>
          </a:p>
        </p:txBody>
      </p:sp>
      <p:sp>
        <p:nvSpPr>
          <p:cNvPr id="4" name="TextBox 3"/>
          <p:cNvSpPr txBox="1"/>
          <p:nvPr/>
        </p:nvSpPr>
        <p:spPr>
          <a:xfrm>
            <a:off x="274320" y="1000000"/>
            <a:ext cx="1920240" cy="228600"/>
          </a:xfrm>
          <a:prstGeom prst="rect">
            <a:avLst/>
          </a:prstGeom>
          <a:noFill/>
        </p:spPr>
        <p:txBody>
          <a:bodyPr wrap="none">
            <a:spAutoFit/>
          </a:bodyPr>
          <a:lstStyle/>
          <a:p>
            <a:r>
              <a:rPr sz="1000" b="1">
                <a:solidFill>
                  <a:srgbClr val="3B6D11"/>
                </a:solidFill>
              </a:rPr>
              <a:t>✅  H1 — Confirmée</a:t>
            </a:r>
          </a:p>
        </p:txBody>
      </p:sp>
      <p:sp>
        <p:nvSpPr>
          <p:cNvPr id="5" name="TextBox 4"/>
          <p:cNvSpPr txBox="1"/>
          <p:nvPr/>
        </p:nvSpPr>
        <p:spPr>
          <a:xfrm>
            <a:off x="2286000" y="1000000"/>
            <a:ext cx="6583680" cy="228600"/>
          </a:xfrm>
          <a:prstGeom prst="rect">
            <a:avLst/>
          </a:prstGeom>
          <a:noFill/>
        </p:spPr>
        <p:txBody>
          <a:bodyPr wrap="square">
            <a:spAutoFit/>
          </a:bodyPr>
          <a:lstStyle/>
          <a:p>
            <a:r>
              <a:rPr sz="1000">
                <a:solidFill>
                  <a:srgbClr val="444444"/>
                </a:solidFill>
              </a:rPr>
              <a:t>Les éléments 'Automatisé' du diagnostic sont des propositions, pas l'état actuel.</a:t>
            </a:r>
          </a:p>
        </p:txBody>
      </p:sp>
      <p:sp>
        <p:nvSpPr>
          <p:cNvPr id="6" name="Rectangle 5"/>
          <p:cNvSpPr/>
          <p:nvPr/>
        </p:nvSpPr>
        <p:spPr>
          <a:xfrm>
            <a:off x="274320" y="13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500000"/>
            <a:ext cx="1920240" cy="228600"/>
          </a:xfrm>
          <a:prstGeom prst="rect">
            <a:avLst/>
          </a:prstGeom>
          <a:noFill/>
        </p:spPr>
        <p:txBody>
          <a:bodyPr wrap="none">
            <a:spAutoFit/>
          </a:bodyPr>
          <a:lstStyle/>
          <a:p>
            <a:r>
              <a:rPr sz="1000" b="1">
                <a:solidFill>
                  <a:srgbClr val="B45309"/>
                </a:solidFill>
              </a:rPr>
              <a:t>❓  H4 — À confirmer</a:t>
            </a:r>
          </a:p>
        </p:txBody>
      </p:sp>
      <p:sp>
        <p:nvSpPr>
          <p:cNvPr id="8" name="TextBox 7"/>
          <p:cNvSpPr txBox="1"/>
          <p:nvPr/>
        </p:nvSpPr>
        <p:spPr>
          <a:xfrm>
            <a:off x="2286000" y="1500000"/>
            <a:ext cx="6583680" cy="228600"/>
          </a:xfrm>
          <a:prstGeom prst="rect">
            <a:avLst/>
          </a:prstGeom>
          <a:noFill/>
        </p:spPr>
        <p:txBody>
          <a:bodyPr wrap="square">
            <a:spAutoFit/>
          </a:bodyPr>
          <a:lstStyle/>
          <a:p>
            <a:r>
              <a:rPr sz="1000">
                <a:solidFill>
                  <a:srgbClr val="444444"/>
                </a:solidFill>
              </a:rPr>
              <a:t>Aurélie et Gaëlle sont les seules personnes maîtrisant les flux de leur entité.</a:t>
            </a:r>
          </a:p>
        </p:txBody>
      </p:sp>
      <p:sp>
        <p:nvSpPr>
          <p:cNvPr id="9" name="Rectangle 8"/>
          <p:cNvSpPr/>
          <p:nvPr/>
        </p:nvSpPr>
        <p:spPr>
          <a:xfrm>
            <a:off x="274320" y="18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2000000"/>
            <a:ext cx="1920240" cy="228600"/>
          </a:xfrm>
          <a:prstGeom prst="rect">
            <a:avLst/>
          </a:prstGeom>
          <a:noFill/>
        </p:spPr>
        <p:txBody>
          <a:bodyPr wrap="none">
            <a:spAutoFit/>
          </a:bodyPr>
          <a:lstStyle/>
          <a:p>
            <a:r>
              <a:rPr sz="1000" b="1">
                <a:solidFill>
                  <a:srgbClr val="B45309"/>
                </a:solidFill>
              </a:rPr>
              <a:t>❓  H5 — À confirmer</a:t>
            </a:r>
          </a:p>
        </p:txBody>
      </p:sp>
      <p:sp>
        <p:nvSpPr>
          <p:cNvPr id="11" name="TextBox 10"/>
          <p:cNvSpPr txBox="1"/>
          <p:nvPr/>
        </p:nvSpPr>
        <p:spPr>
          <a:xfrm>
            <a:off x="2286000" y="2000000"/>
            <a:ext cx="6583680" cy="228600"/>
          </a:xfrm>
          <a:prstGeom prst="rect">
            <a:avLst/>
          </a:prstGeom>
          <a:noFill/>
        </p:spPr>
        <p:txBody>
          <a:bodyPr wrap="square">
            <a:spAutoFit/>
          </a:bodyPr>
          <a:lstStyle/>
          <a:p>
            <a:r>
              <a:rPr sz="1000">
                <a:solidFill>
                  <a:srgbClr val="444444"/>
                </a:solidFill>
              </a:rPr>
              <a:t>Il n'existe aucune procédure écrite ni documentation des flux actuels.</a:t>
            </a:r>
          </a:p>
        </p:txBody>
      </p:sp>
      <p:sp>
        <p:nvSpPr>
          <p:cNvPr id="12" name="Rectangle 11"/>
          <p:cNvSpPr/>
          <p:nvPr/>
        </p:nvSpPr>
        <p:spPr>
          <a:xfrm>
            <a:off x="274320" y="23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500000"/>
            <a:ext cx="1920240" cy="228600"/>
          </a:xfrm>
          <a:prstGeom prst="rect">
            <a:avLst/>
          </a:prstGeom>
          <a:noFill/>
        </p:spPr>
        <p:txBody>
          <a:bodyPr wrap="none">
            <a:spAutoFit/>
          </a:bodyPr>
          <a:lstStyle/>
          <a:p>
            <a:r>
              <a:rPr sz="1000" b="1">
                <a:solidFill>
                  <a:srgbClr val="B45309"/>
                </a:solidFill>
              </a:rPr>
              <a:t>❓  H7 — À confirmer</a:t>
            </a:r>
          </a:p>
        </p:txBody>
      </p:sp>
      <p:sp>
        <p:nvSpPr>
          <p:cNvPr id="14" name="TextBox 13"/>
          <p:cNvSpPr txBox="1"/>
          <p:nvPr/>
        </p:nvSpPr>
        <p:spPr>
          <a:xfrm>
            <a:off x="2286000" y="2500000"/>
            <a:ext cx="6583680" cy="228600"/>
          </a:xfrm>
          <a:prstGeom prst="rect">
            <a:avLst/>
          </a:prstGeom>
          <a:noFill/>
        </p:spPr>
        <p:txBody>
          <a:bodyPr wrap="square">
            <a:spAutoFit/>
          </a:bodyPr>
          <a:lstStyle/>
          <a:p>
            <a:r>
              <a:rPr sz="1000">
                <a:solidFill>
                  <a:srgbClr val="444444"/>
                </a:solidFill>
              </a:rPr>
              <a:t>Un connecteur Prestashop→Sage Compta existe et est compatible avec les versions CDP.</a:t>
            </a:r>
          </a:p>
        </p:txBody>
      </p:sp>
      <p:sp>
        <p:nvSpPr>
          <p:cNvPr id="15" name="Rectangle 14"/>
          <p:cNvSpPr/>
          <p:nvPr/>
        </p:nvSpPr>
        <p:spPr>
          <a:xfrm>
            <a:off x="274320" y="28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3000000"/>
            <a:ext cx="1920240" cy="228600"/>
          </a:xfrm>
          <a:prstGeom prst="rect">
            <a:avLst/>
          </a:prstGeom>
          <a:noFill/>
        </p:spPr>
        <p:txBody>
          <a:bodyPr wrap="none">
            <a:spAutoFit/>
          </a:bodyPr>
          <a:lstStyle/>
          <a:p>
            <a:r>
              <a:rPr sz="1000" b="1">
                <a:solidFill>
                  <a:srgbClr val="991F1F"/>
                </a:solidFill>
              </a:rPr>
              <a:t>⚠️  H12 — Non étayée</a:t>
            </a:r>
          </a:p>
        </p:txBody>
      </p:sp>
      <p:sp>
        <p:nvSpPr>
          <p:cNvPr id="17" name="TextBox 16"/>
          <p:cNvSpPr txBox="1"/>
          <p:nvPr/>
        </p:nvSpPr>
        <p:spPr>
          <a:xfrm>
            <a:off x="2286000" y="3000000"/>
            <a:ext cx="6583680" cy="228600"/>
          </a:xfrm>
          <a:prstGeom prst="rect">
            <a:avLst/>
          </a:prstGeom>
          <a:noFill/>
        </p:spPr>
        <p:txBody>
          <a:bodyPr wrap="square">
            <a:spAutoFit/>
          </a:bodyPr>
          <a:lstStyle/>
          <a:p>
            <a:r>
              <a:rPr sz="1000">
                <a:solidFill>
                  <a:srgbClr val="444444"/>
                </a:solidFill>
              </a:rPr>
              <a:t>Le gain estimé de 1,5 ETP/semaine est un ordre de grandeur — aucune mesure du temps par tâche n'a été réalisée.</a:t>
            </a:r>
          </a:p>
        </p:txBody>
      </p:sp>
      <p:sp>
        <p:nvSpPr>
          <p:cNvPr id="18" name="Rectangle 17"/>
          <p:cNvSpPr/>
          <p:nvPr/>
        </p:nvSpPr>
        <p:spPr>
          <a:xfrm>
            <a:off x="274320" y="33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3500000"/>
            <a:ext cx="1920240" cy="228600"/>
          </a:xfrm>
          <a:prstGeom prst="rect">
            <a:avLst/>
          </a:prstGeom>
          <a:noFill/>
        </p:spPr>
        <p:txBody>
          <a:bodyPr wrap="none">
            <a:spAutoFit/>
          </a:bodyPr>
          <a:lstStyle/>
          <a:p>
            <a:r>
              <a:rPr sz="1000" b="1">
                <a:solidFill>
                  <a:srgbClr val="991F1F"/>
                </a:solidFill>
              </a:rPr>
              <a:t>⚠️  H14 — À actualiser</a:t>
            </a:r>
          </a:p>
        </p:txBody>
      </p:sp>
      <p:sp>
        <p:nvSpPr>
          <p:cNvPr id="20" name="TextBox 19"/>
          <p:cNvSpPr txBox="1"/>
          <p:nvPr/>
        </p:nvSpPr>
        <p:spPr>
          <a:xfrm>
            <a:off x="2286000" y="3500000"/>
            <a:ext cx="6583680" cy="228600"/>
          </a:xfrm>
          <a:prstGeom prst="rect">
            <a:avLst/>
          </a:prstGeom>
          <a:noFill/>
        </p:spPr>
        <p:txBody>
          <a:bodyPr wrap="square">
            <a:spAutoFit/>
          </a:bodyPr>
          <a:lstStyle/>
          <a:p>
            <a:r>
              <a:rPr sz="1000">
                <a:solidFill>
                  <a:srgbClr val="444444"/>
                </a:solidFill>
              </a:rPr>
              <a:t>Le calendrier facturation électronique 2026 est basé sur la réglementation en vigueur à mars 2025.</a:t>
            </a:r>
          </a:p>
        </p:txBody>
      </p:sp>
      <p:sp>
        <p:nvSpPr>
          <p:cNvPr id="21" name="Rectangle 20"/>
          <p:cNvSpPr/>
          <p:nvPr/>
        </p:nvSpPr>
        <p:spPr>
          <a:xfrm>
            <a:off x="274320" y="38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4000000"/>
            <a:ext cx="1920240" cy="228600"/>
          </a:xfrm>
          <a:prstGeom prst="rect">
            <a:avLst/>
          </a:prstGeom>
          <a:noFill/>
        </p:spPr>
        <p:txBody>
          <a:bodyPr wrap="none">
            <a:spAutoFit/>
          </a:bodyPr>
          <a:lstStyle/>
          <a:p>
            <a:r>
              <a:rPr sz="1000" b="1">
                <a:solidFill>
                  <a:srgbClr val="B45309"/>
                </a:solidFill>
              </a:rPr>
              <a:t>❓  H16 — À confirmer</a:t>
            </a:r>
          </a:p>
        </p:txBody>
      </p:sp>
      <p:sp>
        <p:nvSpPr>
          <p:cNvPr id="23" name="TextBox 22"/>
          <p:cNvSpPr txBox="1"/>
          <p:nvPr/>
        </p:nvSpPr>
        <p:spPr>
          <a:xfrm>
            <a:off x="2286000" y="4000000"/>
            <a:ext cx="6583680" cy="228600"/>
          </a:xfrm>
          <a:prstGeom prst="rect">
            <a:avLst/>
          </a:prstGeom>
          <a:noFill/>
        </p:spPr>
        <p:txBody>
          <a:bodyPr wrap="square">
            <a:spAutoFit/>
          </a:bodyPr>
          <a:lstStyle/>
          <a:p>
            <a:r>
              <a:rPr sz="1000">
                <a:solidFill>
                  <a:srgbClr val="444444"/>
                </a:solidFill>
              </a:rPr>
              <a:t>Le cabinet comptable n'est pas encore utilisateur de Pennylane.</a:t>
            </a:r>
          </a:p>
        </p:txBody>
      </p:sp>
      <p:sp>
        <p:nvSpPr>
          <p:cNvPr id="24" name="Rectangle 23"/>
          <p:cNvSpPr/>
          <p:nvPr/>
        </p:nvSpPr>
        <p:spPr>
          <a:xfrm>
            <a:off x="274320" y="4350000"/>
            <a:ext cx="8595360" cy="9144"/>
          </a:xfrm>
          <a:prstGeom prst="rect">
            <a:avLst/>
          </a:prstGeom>
          <a:solidFill>
            <a:srgbClr val="E8E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4700000"/>
            <a:ext cx="8595360" cy="300000"/>
          </a:xfrm>
          <a:prstGeom prst="rect">
            <a:avLst/>
          </a:prstGeom>
          <a:noFill/>
        </p:spPr>
        <p:txBody>
          <a:bodyPr wrap="square">
            <a:spAutoFit/>
          </a:bodyPr>
          <a:lstStyle/>
          <a:p>
            <a:r>
              <a:rPr sz="900" i="1">
                <a:solidFill>
                  <a:srgbClr val="64748B"/>
                </a:solidFill>
              </a:rPr>
              <a:t>17 hypothèses documentées au total dans HYPOTHESES.md — seules les principales sont affichées ici.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Automatisation comptable — Rampal Latour / CDP</dc:title>
  <dc:subject>PptxGenJS Presentation</dc:subject>
  <dc:creator>PptxGenJS</dc:creator>
  <cp:lastModifiedBy>PptxGenJS</cp:lastModifiedBy>
  <cp:revision>1</cp:revision>
  <dcterms:created xsi:type="dcterms:W3CDTF">2026-03-17T09:40:27Z</dcterms:created>
  <dcterms:modified xsi:type="dcterms:W3CDTF">2026-03-17T09:40:27Z</dcterms:modified>
</cp:coreProperties>
</file>