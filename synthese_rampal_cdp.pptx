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C35"/>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6D11"/>
          </a:solidFill>
          <a:ln w="12700">
            <a:solidFill>
              <a:srgbClr val="3B6D11"/>
            </a:solidFill>
            <a:prstDash val="solid"/>
          </a:ln>
        </p:spPr>
      </p:sp>
      <p:sp>
        <p:nvSpPr>
          <p:cNvPr id="3" name="Text 1"/>
          <p:cNvSpPr/>
          <p:nvPr/>
        </p:nvSpPr>
        <p:spPr>
          <a:xfrm>
            <a:off x="457200" y="1280160"/>
            <a:ext cx="8229600" cy="73152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Diagnostic automatisation</a:t>
            </a:r>
            <a:endParaRPr lang="en-US" sz="3800" dirty="0"/>
          </a:p>
        </p:txBody>
      </p:sp>
      <p:sp>
        <p:nvSpPr>
          <p:cNvPr id="4" name="Text 2"/>
          <p:cNvSpPr/>
          <p:nvPr/>
        </p:nvSpPr>
        <p:spPr>
          <a:xfrm>
            <a:off x="457200" y="2057400"/>
            <a:ext cx="8229600" cy="457200"/>
          </a:xfrm>
          <a:prstGeom prst="rect">
            <a:avLst/>
          </a:prstGeom>
          <a:noFill/>
          <a:ln/>
        </p:spPr>
        <p:txBody>
          <a:bodyPr wrap="square" lIns="0" tIns="0" rIns="0" bIns="0" rtlCol="0" anchor="ctr"/>
          <a:lstStyle/>
          <a:p>
            <a:pPr indent="0" marL="0">
              <a:buNone/>
            </a:pPr>
            <a:r>
              <a:rPr lang="en-US" sz="1800" dirty="0">
                <a:solidFill>
                  <a:srgbClr val="9BB8C8"/>
                </a:solidFill>
                <a:latin typeface="Calibri" pitchFamily="34" charset="0"/>
                <a:ea typeface="Calibri" pitchFamily="34" charset="-122"/>
                <a:cs typeface="Calibri" pitchFamily="34" charset="-120"/>
              </a:rPr>
              <a:t>Flux comptables — Rampal Latour &amp; Compagnie de Provence</a:t>
            </a:r>
            <a:endParaRPr lang="en-US" sz="1800" dirty="0"/>
          </a:p>
        </p:txBody>
      </p:sp>
      <p:sp>
        <p:nvSpPr>
          <p:cNvPr id="5" name="Shape 3"/>
          <p:cNvSpPr/>
          <p:nvPr/>
        </p:nvSpPr>
        <p:spPr>
          <a:xfrm>
            <a:off x="457200" y="4114800"/>
            <a:ext cx="2194560" cy="384048"/>
          </a:xfrm>
          <a:prstGeom prst="rect">
            <a:avLst/>
          </a:prstGeom>
          <a:solidFill>
            <a:srgbClr val="3B6D11"/>
          </a:solidFill>
          <a:ln w="12700">
            <a:solidFill>
              <a:srgbClr val="3B6D11"/>
            </a:solidFill>
            <a:prstDash val="solid"/>
          </a:ln>
        </p:spPr>
      </p:sp>
      <p:sp>
        <p:nvSpPr>
          <p:cNvPr id="6" name="Text 4"/>
          <p:cNvSpPr/>
          <p:nvPr/>
        </p:nvSpPr>
        <p:spPr>
          <a:xfrm>
            <a:off x="457200" y="4114800"/>
            <a:ext cx="21945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Mars 2025</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2C35"/>
          </a:solidFill>
          <a:ln w="12700">
            <a:solidFill>
              <a:srgbClr val="1A2C35"/>
            </a:solidFill>
            <a:prstDash val="solid"/>
          </a:ln>
        </p:spPr>
      </p:sp>
      <p:sp>
        <p:nvSpPr>
          <p:cNvPr id="3" name="Text 1"/>
          <p:cNvSpPr/>
          <p:nvPr/>
        </p:nvSpPr>
        <p:spPr>
          <a:xfrm>
            <a:off x="365760" y="0"/>
            <a:ext cx="8412480" cy="8229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Constat : deux entités, zéro automatisation en place</a:t>
            </a:r>
            <a:endParaRPr lang="en-US" sz="2200" dirty="0"/>
          </a:p>
        </p:txBody>
      </p:sp>
      <p:sp>
        <p:nvSpPr>
          <p:cNvPr id="4" name="Shape 2"/>
          <p:cNvSpPr/>
          <p:nvPr/>
        </p:nvSpPr>
        <p:spPr>
          <a:xfrm>
            <a:off x="274320" y="960120"/>
            <a:ext cx="4160520" cy="3840480"/>
          </a:xfrm>
          <a:prstGeom prst="rect">
            <a:avLst/>
          </a:prstGeom>
          <a:solidFill>
            <a:srgbClr val="FFFFFF"/>
          </a:solidFill>
          <a:ln w="12700">
            <a:solidFill>
              <a:srgbClr val="E2E8F0"/>
            </a:solidFill>
            <a:prstDash val="solid"/>
          </a:ln>
        </p:spPr>
      </p:sp>
      <p:sp>
        <p:nvSpPr>
          <p:cNvPr id="5" name="Shape 3"/>
          <p:cNvSpPr/>
          <p:nvPr/>
        </p:nvSpPr>
        <p:spPr>
          <a:xfrm>
            <a:off x="274320" y="960120"/>
            <a:ext cx="4160520" cy="475488"/>
          </a:xfrm>
          <a:prstGeom prst="rect">
            <a:avLst/>
          </a:prstGeom>
          <a:solidFill>
            <a:srgbClr val="3B6D11"/>
          </a:solidFill>
          <a:ln w="12700">
            <a:solidFill>
              <a:srgbClr val="3B6D11"/>
            </a:solidFill>
            <a:prstDash val="solid"/>
          </a:ln>
        </p:spPr>
      </p:sp>
      <p:sp>
        <p:nvSpPr>
          <p:cNvPr id="6" name="Text 4"/>
          <p:cNvSpPr/>
          <p:nvPr/>
        </p:nvSpPr>
        <p:spPr>
          <a:xfrm>
            <a:off x="411480" y="960120"/>
            <a:ext cx="388620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Rampal Latour</a:t>
            </a:r>
            <a:endParaRPr lang="en-US" sz="1400" dirty="0"/>
          </a:p>
        </p:txBody>
      </p:sp>
      <p:sp>
        <p:nvSpPr>
          <p:cNvPr id="7" name="Text 5"/>
          <p:cNvSpPr/>
          <p:nvPr/>
        </p:nvSpPr>
        <p:spPr>
          <a:xfrm>
            <a:off x="457200" y="1554480"/>
            <a:ext cx="3794760" cy="3108960"/>
          </a:xfrm>
          <a:prstGeom prst="rect">
            <a:avLst/>
          </a:prstGeom>
          <a:noFill/>
          <a:ln/>
        </p:spPr>
        <p:txBody>
          <a:bodyPr wrap="square" rtlCol="0" anchor="ctr"/>
          <a:lstStyle/>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Fonctionnement majoritairement manuel</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Export LSI → Quadra : manuel (quotidien)</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Paiements et rapprochements : manuels</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Retraitement tableur CA Retail systématique</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Aurélie : comptable générale unique, sans suppléant</a:t>
            </a:r>
            <a:endParaRPr lang="en-US" sz="1300" dirty="0"/>
          </a:p>
        </p:txBody>
      </p:sp>
      <p:sp>
        <p:nvSpPr>
          <p:cNvPr id="8" name="Shape 6"/>
          <p:cNvSpPr/>
          <p:nvPr/>
        </p:nvSpPr>
        <p:spPr>
          <a:xfrm>
            <a:off x="4754880" y="960120"/>
            <a:ext cx="4160520" cy="3840480"/>
          </a:xfrm>
          <a:prstGeom prst="rect">
            <a:avLst/>
          </a:prstGeom>
          <a:solidFill>
            <a:srgbClr val="FFFFFF"/>
          </a:solidFill>
          <a:ln w="12700">
            <a:solidFill>
              <a:srgbClr val="E2E8F0"/>
            </a:solidFill>
            <a:prstDash val="solid"/>
          </a:ln>
        </p:spPr>
      </p:sp>
      <p:sp>
        <p:nvSpPr>
          <p:cNvPr id="9" name="Shape 7"/>
          <p:cNvSpPr/>
          <p:nvPr/>
        </p:nvSpPr>
        <p:spPr>
          <a:xfrm>
            <a:off x="4754880" y="960120"/>
            <a:ext cx="4160520" cy="475488"/>
          </a:xfrm>
          <a:prstGeom prst="rect">
            <a:avLst/>
          </a:prstGeom>
          <a:solidFill>
            <a:srgbClr val="B45309"/>
          </a:solidFill>
          <a:ln w="12700">
            <a:solidFill>
              <a:srgbClr val="B45309"/>
            </a:solidFill>
            <a:prstDash val="solid"/>
          </a:ln>
        </p:spPr>
      </p:sp>
      <p:sp>
        <p:nvSpPr>
          <p:cNvPr id="10" name="Text 8"/>
          <p:cNvSpPr/>
          <p:nvPr/>
        </p:nvSpPr>
        <p:spPr>
          <a:xfrm>
            <a:off x="4892040" y="960120"/>
            <a:ext cx="388620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Compagnie de Provence</a:t>
            </a:r>
            <a:endParaRPr lang="en-US" sz="1400" dirty="0"/>
          </a:p>
        </p:txBody>
      </p:sp>
      <p:sp>
        <p:nvSpPr>
          <p:cNvPr id="11" name="Text 9"/>
          <p:cNvSpPr/>
          <p:nvPr/>
        </p:nvSpPr>
        <p:spPr>
          <a:xfrm>
            <a:off x="4937760" y="1554480"/>
            <a:ext cx="3794760" cy="3108960"/>
          </a:xfrm>
          <a:prstGeom prst="rect">
            <a:avLst/>
          </a:prstGeom>
          <a:noFill/>
          <a:ln/>
        </p:spPr>
        <p:txBody>
          <a:bodyPr wrap="square" rtlCol="0" anchor="ctr"/>
          <a:lstStyle/>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Fonctionnement entièrement manuel</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Saisies Prestashop → Sage à la main</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Rapprochements bancaires manuels (4 canaux)</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Aucune automatisation en place</a:t>
            </a:r>
            <a:endParaRPr lang="en-US" sz="1300" dirty="0"/>
          </a:p>
          <a:p>
            <a:pPr marL="342900" indent="-342900">
              <a:spcAft>
                <a:spcPts val="600"/>
              </a:spcAft>
              <a:buSzPct val="100000"/>
              <a:buChar char="•"/>
            </a:pPr>
            <a:r>
              <a:rPr lang="en-US" sz="1300" dirty="0">
                <a:solidFill>
                  <a:srgbClr val="333333"/>
                </a:solidFill>
                <a:latin typeface="Calibri" pitchFamily="34" charset="0"/>
                <a:ea typeface="Calibri" pitchFamily="34" charset="-122"/>
                <a:cs typeface="Calibri" pitchFamily="34" charset="-120"/>
              </a:rPr>
              <a:t>Gaëlle : comptable + RH unique, sans suppléant</a:t>
            </a:r>
            <a:endParaRPr lang="en-US" sz="1300" dirty="0"/>
          </a:p>
        </p:txBody>
      </p:sp>
      <p:sp>
        <p:nvSpPr>
          <p:cNvPr id="12" name="Shape 10"/>
          <p:cNvSpPr/>
          <p:nvPr/>
        </p:nvSpPr>
        <p:spPr>
          <a:xfrm>
            <a:off x="274320" y="4617720"/>
            <a:ext cx="8595360" cy="347472"/>
          </a:xfrm>
          <a:prstGeom prst="rect">
            <a:avLst/>
          </a:prstGeom>
          <a:solidFill>
            <a:srgbClr val="FEF3E2"/>
          </a:solidFill>
          <a:ln w="12700">
            <a:solidFill>
              <a:srgbClr val="B45309"/>
            </a:solidFill>
            <a:prstDash val="solid"/>
          </a:ln>
        </p:spPr>
      </p:sp>
      <p:sp>
        <p:nvSpPr>
          <p:cNvPr id="13" name="Text 11"/>
          <p:cNvSpPr/>
          <p:nvPr/>
        </p:nvSpPr>
        <p:spPr>
          <a:xfrm>
            <a:off x="411480" y="4617720"/>
            <a:ext cx="8321040" cy="347472"/>
          </a:xfrm>
          <a:prstGeom prst="rect">
            <a:avLst/>
          </a:prstGeom>
          <a:noFill/>
          <a:ln/>
        </p:spPr>
        <p:txBody>
          <a:bodyPr wrap="square" lIns="0" tIns="0" rIns="0" bIns="0"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  Les deux entités fonctionnent aujourd'hui entièrement en manuel. Les éléments 'automatisés' du diagnostic sont des propositions, pas l'état actuel.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2C35"/>
          </a:solidFill>
          <a:ln w="12700">
            <a:solidFill>
              <a:srgbClr val="1A2C35"/>
            </a:solidFill>
            <a:prstDash val="solid"/>
          </a:ln>
        </p:spPr>
      </p:sp>
      <p:sp>
        <p:nvSpPr>
          <p:cNvPr id="3" name="Text 1"/>
          <p:cNvSpPr/>
          <p:nvPr/>
        </p:nvSpPr>
        <p:spPr>
          <a:xfrm>
            <a:off x="365760" y="0"/>
            <a:ext cx="8412480" cy="8229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Matrice effort / impact — 8 chantiers identifiés</a:t>
            </a:r>
            <a:endParaRPr lang="en-US" sz="2200" dirty="0"/>
          </a:p>
        </p:txBody>
      </p:sp>
      <p:sp>
        <p:nvSpPr>
          <p:cNvPr id="4" name="Shape 2"/>
          <p:cNvSpPr/>
          <p:nvPr/>
        </p:nvSpPr>
        <p:spPr>
          <a:xfrm>
            <a:off x="457200" y="914400"/>
            <a:ext cx="3840480" cy="2377440"/>
          </a:xfrm>
          <a:prstGeom prst="rect">
            <a:avLst/>
          </a:prstGeom>
          <a:solidFill>
            <a:srgbClr val="EAF3DE"/>
          </a:solidFill>
          <a:ln w="12700">
            <a:solidFill>
              <a:srgbClr val="C5E0A0"/>
            </a:solidFill>
            <a:prstDash val="solid"/>
          </a:ln>
        </p:spPr>
      </p:sp>
      <p:sp>
        <p:nvSpPr>
          <p:cNvPr id="5" name="Shape 3"/>
          <p:cNvSpPr/>
          <p:nvPr/>
        </p:nvSpPr>
        <p:spPr>
          <a:xfrm>
            <a:off x="4572000" y="914400"/>
            <a:ext cx="4114800" cy="2377440"/>
          </a:xfrm>
          <a:prstGeom prst="rect">
            <a:avLst/>
          </a:prstGeom>
          <a:solidFill>
            <a:srgbClr val="FEF3E2"/>
          </a:solidFill>
          <a:ln w="12700">
            <a:solidFill>
              <a:srgbClr val="F0C070"/>
            </a:solidFill>
            <a:prstDash val="solid"/>
          </a:ln>
        </p:spPr>
      </p:sp>
      <p:sp>
        <p:nvSpPr>
          <p:cNvPr id="6" name="Shape 4"/>
          <p:cNvSpPr/>
          <p:nvPr/>
        </p:nvSpPr>
        <p:spPr>
          <a:xfrm>
            <a:off x="457200" y="3474720"/>
            <a:ext cx="3840480" cy="1371600"/>
          </a:xfrm>
          <a:prstGeom prst="rect">
            <a:avLst/>
          </a:prstGeom>
          <a:solidFill>
            <a:srgbClr val="F5F5F3"/>
          </a:solidFill>
          <a:ln w="12700">
            <a:solidFill>
              <a:srgbClr val="E2E8F0"/>
            </a:solidFill>
            <a:prstDash val="solid"/>
          </a:ln>
        </p:spPr>
      </p:sp>
      <p:sp>
        <p:nvSpPr>
          <p:cNvPr id="7" name="Shape 5"/>
          <p:cNvSpPr/>
          <p:nvPr/>
        </p:nvSpPr>
        <p:spPr>
          <a:xfrm>
            <a:off x="4572000" y="3474720"/>
            <a:ext cx="4114800" cy="1371600"/>
          </a:xfrm>
          <a:prstGeom prst="rect">
            <a:avLst/>
          </a:prstGeom>
          <a:solidFill>
            <a:srgbClr val="FEF0EB"/>
          </a:solidFill>
          <a:ln w="12700">
            <a:solidFill>
              <a:srgbClr val="F0C8B0"/>
            </a:solidFill>
            <a:prstDash val="solid"/>
          </a:ln>
        </p:spPr>
      </p:sp>
      <p:sp>
        <p:nvSpPr>
          <p:cNvPr id="8" name="Text 6"/>
          <p:cNvSpPr/>
          <p:nvPr/>
        </p:nvSpPr>
        <p:spPr>
          <a:xfrm>
            <a:off x="502920" y="932688"/>
            <a:ext cx="3749040" cy="274320"/>
          </a:xfrm>
          <a:prstGeom prst="rect">
            <a:avLst/>
          </a:prstGeom>
          <a:noFill/>
          <a:ln/>
        </p:spPr>
        <p:txBody>
          <a:bodyPr wrap="square" lIns="0" tIns="0" rIns="0" bIns="0" rtlCol="0" anchor="ctr"/>
          <a:lstStyle/>
          <a:p>
            <a:pPr indent="0" marL="0">
              <a:buNone/>
            </a:pPr>
            <a:r>
              <a:rPr lang="en-US" sz="1100" b="1" dirty="0">
                <a:solidFill>
                  <a:srgbClr val="3B6D11"/>
                </a:solidFill>
                <a:latin typeface="Calibri" pitchFamily="34" charset="0"/>
                <a:ea typeface="Calibri" pitchFamily="34" charset="-122"/>
                <a:cs typeface="Calibri" pitchFamily="34" charset="-120"/>
              </a:rPr>
              <a:t>Gains immédiats</a:t>
            </a:r>
            <a:endParaRPr lang="en-US" sz="1100" dirty="0"/>
          </a:p>
        </p:txBody>
      </p:sp>
      <p:sp>
        <p:nvSpPr>
          <p:cNvPr id="9" name="Text 7"/>
          <p:cNvSpPr/>
          <p:nvPr/>
        </p:nvSpPr>
        <p:spPr>
          <a:xfrm>
            <a:off x="4617720" y="932688"/>
            <a:ext cx="4023360" cy="274320"/>
          </a:xfrm>
          <a:prstGeom prst="rect">
            <a:avLst/>
          </a:prstGeom>
          <a:noFill/>
          <a:ln/>
        </p:spPr>
        <p:txBody>
          <a:bodyPr wrap="square" lIns="0" tIns="0" rIns="0" bIns="0" rtlCol="0" anchor="ctr"/>
          <a:lstStyle/>
          <a:p>
            <a:pPr indent="0" marL="0">
              <a:buNone/>
            </a:pPr>
            <a:r>
              <a:rPr lang="en-US" sz="1100" b="1" dirty="0">
                <a:solidFill>
                  <a:srgbClr val="B45309"/>
                </a:solidFill>
                <a:latin typeface="Calibri" pitchFamily="34" charset="0"/>
                <a:ea typeface="Calibri" pitchFamily="34" charset="-122"/>
                <a:cs typeface="Calibri" pitchFamily="34" charset="-120"/>
              </a:rPr>
              <a:t>Chantiers structurants</a:t>
            </a:r>
            <a:endParaRPr lang="en-US" sz="1100" dirty="0"/>
          </a:p>
        </p:txBody>
      </p:sp>
      <p:sp>
        <p:nvSpPr>
          <p:cNvPr id="10" name="Text 8"/>
          <p:cNvSpPr/>
          <p:nvPr/>
        </p:nvSpPr>
        <p:spPr>
          <a:xfrm>
            <a:off x="502920" y="3493008"/>
            <a:ext cx="3749040" cy="256032"/>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Améliorations secondaires</a:t>
            </a:r>
            <a:endParaRPr lang="en-US" sz="1000" dirty="0"/>
          </a:p>
        </p:txBody>
      </p:sp>
      <p:sp>
        <p:nvSpPr>
          <p:cNvPr id="11" name="Text 9"/>
          <p:cNvSpPr/>
          <p:nvPr/>
        </p:nvSpPr>
        <p:spPr>
          <a:xfrm>
            <a:off x="4617720" y="3493008"/>
            <a:ext cx="4023360" cy="256032"/>
          </a:xfrm>
          <a:prstGeom prst="rect">
            <a:avLst/>
          </a:prstGeom>
          <a:noFill/>
          <a:ln/>
        </p:spPr>
        <p:txBody>
          <a:bodyPr wrap="square" lIns="0" tIns="0" rIns="0" bIns="0" rtlCol="0" anchor="ctr"/>
          <a:lstStyle/>
          <a:p>
            <a:pPr indent="0" marL="0">
              <a:buNone/>
            </a:pPr>
            <a:r>
              <a:rPr lang="en-US" sz="1000" dirty="0">
                <a:solidFill>
                  <a:srgbClr val="991F1F"/>
                </a:solidFill>
                <a:latin typeface="Calibri" pitchFamily="34" charset="0"/>
                <a:ea typeface="Calibri" pitchFamily="34" charset="-122"/>
                <a:cs typeface="Calibri" pitchFamily="34" charset="-120"/>
              </a:rPr>
              <a:t>À réexaminer</a:t>
            </a:r>
            <a:endParaRPr lang="en-US" sz="1000" dirty="0"/>
          </a:p>
        </p:txBody>
      </p:sp>
      <p:sp>
        <p:nvSpPr>
          <p:cNvPr id="12" name="Text 10"/>
          <p:cNvSpPr/>
          <p:nvPr/>
        </p:nvSpPr>
        <p:spPr>
          <a:xfrm>
            <a:off x="457200" y="4892040"/>
            <a:ext cx="8229600" cy="201168"/>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 Effort faible                                   Effort élevé →</a:t>
            </a:r>
            <a:endParaRPr lang="en-US" sz="1000" dirty="0"/>
          </a:p>
        </p:txBody>
      </p:sp>
      <p:sp>
        <p:nvSpPr>
          <p:cNvPr id="13" name="Text 11"/>
          <p:cNvSpPr/>
          <p:nvPr/>
        </p:nvSpPr>
        <p:spPr>
          <a:xfrm rot="16200000">
            <a:off x="45720" y="1371600"/>
            <a:ext cx="365760" cy="228600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Impact ↑</a:t>
            </a:r>
            <a:endParaRPr lang="en-US" sz="1000" dirty="0"/>
          </a:p>
        </p:txBody>
      </p:sp>
      <p:sp>
        <p:nvSpPr>
          <p:cNvPr id="14" name="Shape 12"/>
          <p:cNvSpPr/>
          <p:nvPr/>
        </p:nvSpPr>
        <p:spPr>
          <a:xfrm>
            <a:off x="804672" y="1170432"/>
            <a:ext cx="402336" cy="402336"/>
          </a:xfrm>
          <a:prstGeom prst="ellipse">
            <a:avLst/>
          </a:prstGeom>
          <a:solidFill>
            <a:srgbClr val="6ECC9C"/>
          </a:solidFill>
          <a:ln w="12700">
            <a:solidFill>
              <a:srgbClr val="3B6D11"/>
            </a:solidFill>
            <a:prstDash val="solid"/>
          </a:ln>
        </p:spPr>
      </p:sp>
      <p:sp>
        <p:nvSpPr>
          <p:cNvPr id="15" name="Text 13"/>
          <p:cNvSpPr/>
          <p:nvPr/>
        </p:nvSpPr>
        <p:spPr>
          <a:xfrm>
            <a:off x="804672" y="1170432"/>
            <a:ext cx="402336" cy="402336"/>
          </a:xfrm>
          <a:prstGeom prst="rect">
            <a:avLst/>
          </a:prstGeom>
          <a:noFill/>
          <a:ln/>
        </p:spPr>
        <p:txBody>
          <a:bodyPr wrap="square" lIns="0" tIns="0" rIns="0" bIns="0" rtlCol="0" anchor="ctr"/>
          <a:lstStyle/>
          <a:p>
            <a:pPr algn="ctr" indent="0" marL="0">
              <a:buNone/>
            </a:pPr>
            <a:r>
              <a:rPr lang="en-US" sz="1100" b="1" dirty="0">
                <a:solidFill>
                  <a:srgbClr val="0F4D2E"/>
                </a:solidFill>
                <a:latin typeface="Calibri" pitchFamily="34" charset="0"/>
                <a:ea typeface="Calibri" pitchFamily="34" charset="-122"/>
                <a:cs typeface="Calibri" pitchFamily="34" charset="-120"/>
              </a:rPr>
              <a:t>1</a:t>
            </a:r>
            <a:endParaRPr lang="en-US" sz="1100" dirty="0"/>
          </a:p>
        </p:txBody>
      </p:sp>
      <p:sp>
        <p:nvSpPr>
          <p:cNvPr id="16" name="Text 14"/>
          <p:cNvSpPr/>
          <p:nvPr/>
        </p:nvSpPr>
        <p:spPr>
          <a:xfrm>
            <a:off x="457200" y="1600200"/>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Connecteur</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Prestashop→Sage</a:t>
            </a:r>
            <a:endParaRPr lang="en-US" sz="800" dirty="0"/>
          </a:p>
        </p:txBody>
      </p:sp>
      <p:sp>
        <p:nvSpPr>
          <p:cNvPr id="17" name="Shape 15"/>
          <p:cNvSpPr/>
          <p:nvPr/>
        </p:nvSpPr>
        <p:spPr>
          <a:xfrm>
            <a:off x="1810512" y="1627632"/>
            <a:ext cx="402336" cy="402336"/>
          </a:xfrm>
          <a:prstGeom prst="ellipse">
            <a:avLst/>
          </a:prstGeom>
          <a:solidFill>
            <a:srgbClr val="6ECC9C"/>
          </a:solidFill>
          <a:ln w="12700">
            <a:solidFill>
              <a:srgbClr val="3B6D11"/>
            </a:solidFill>
            <a:prstDash val="solid"/>
          </a:ln>
        </p:spPr>
      </p:sp>
      <p:sp>
        <p:nvSpPr>
          <p:cNvPr id="18" name="Text 16"/>
          <p:cNvSpPr/>
          <p:nvPr/>
        </p:nvSpPr>
        <p:spPr>
          <a:xfrm>
            <a:off x="1810512" y="1627632"/>
            <a:ext cx="402336" cy="402336"/>
          </a:xfrm>
          <a:prstGeom prst="rect">
            <a:avLst/>
          </a:prstGeom>
          <a:noFill/>
          <a:ln/>
        </p:spPr>
        <p:txBody>
          <a:bodyPr wrap="square" lIns="0" tIns="0" rIns="0" bIns="0" rtlCol="0" anchor="ctr"/>
          <a:lstStyle/>
          <a:p>
            <a:pPr algn="ctr" indent="0" marL="0">
              <a:buNone/>
            </a:pPr>
            <a:r>
              <a:rPr lang="en-US" sz="1100" b="1" dirty="0">
                <a:solidFill>
                  <a:srgbClr val="0F4D2E"/>
                </a:solidFill>
                <a:latin typeface="Calibri" pitchFamily="34" charset="0"/>
                <a:ea typeface="Calibri" pitchFamily="34" charset="-122"/>
                <a:cs typeface="Calibri" pitchFamily="34" charset="-120"/>
              </a:rPr>
              <a:t>2</a:t>
            </a:r>
            <a:endParaRPr lang="en-US" sz="1100" dirty="0"/>
          </a:p>
        </p:txBody>
      </p:sp>
      <p:sp>
        <p:nvSpPr>
          <p:cNvPr id="19" name="Text 17"/>
          <p:cNvSpPr/>
          <p:nvPr/>
        </p:nvSpPr>
        <p:spPr>
          <a:xfrm>
            <a:off x="1463040" y="2057400"/>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Rappro bancaire</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automatisé</a:t>
            </a:r>
            <a:endParaRPr lang="en-US" sz="800" dirty="0"/>
          </a:p>
        </p:txBody>
      </p:sp>
      <p:sp>
        <p:nvSpPr>
          <p:cNvPr id="20" name="Shape 18"/>
          <p:cNvSpPr/>
          <p:nvPr/>
        </p:nvSpPr>
        <p:spPr>
          <a:xfrm>
            <a:off x="2816352" y="1261872"/>
            <a:ext cx="402336" cy="402336"/>
          </a:xfrm>
          <a:prstGeom prst="ellipse">
            <a:avLst/>
          </a:prstGeom>
          <a:solidFill>
            <a:srgbClr val="6ECC9C"/>
          </a:solidFill>
          <a:ln w="12700">
            <a:solidFill>
              <a:srgbClr val="3B6D11"/>
            </a:solidFill>
            <a:prstDash val="solid"/>
          </a:ln>
        </p:spPr>
      </p:sp>
      <p:sp>
        <p:nvSpPr>
          <p:cNvPr id="21" name="Text 19"/>
          <p:cNvSpPr/>
          <p:nvPr/>
        </p:nvSpPr>
        <p:spPr>
          <a:xfrm>
            <a:off x="2816352" y="1261872"/>
            <a:ext cx="402336" cy="402336"/>
          </a:xfrm>
          <a:prstGeom prst="rect">
            <a:avLst/>
          </a:prstGeom>
          <a:noFill/>
          <a:ln/>
        </p:spPr>
        <p:txBody>
          <a:bodyPr wrap="square" lIns="0" tIns="0" rIns="0" bIns="0" rtlCol="0" anchor="ctr"/>
          <a:lstStyle/>
          <a:p>
            <a:pPr algn="ctr" indent="0" marL="0">
              <a:buNone/>
            </a:pPr>
            <a:r>
              <a:rPr lang="en-US" sz="1100" b="1" dirty="0">
                <a:solidFill>
                  <a:srgbClr val="0F4D2E"/>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2468880" y="1691640"/>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Suppr. tableur</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CA Retail</a:t>
            </a:r>
            <a:endParaRPr lang="en-US" sz="800" dirty="0"/>
          </a:p>
        </p:txBody>
      </p:sp>
      <p:sp>
        <p:nvSpPr>
          <p:cNvPr id="23" name="Shape 21"/>
          <p:cNvSpPr/>
          <p:nvPr/>
        </p:nvSpPr>
        <p:spPr>
          <a:xfrm>
            <a:off x="5074920" y="1188720"/>
            <a:ext cx="457200" cy="457200"/>
          </a:xfrm>
          <a:prstGeom prst="ellipse">
            <a:avLst/>
          </a:prstGeom>
          <a:solidFill>
            <a:srgbClr val="F6C26B"/>
          </a:solidFill>
          <a:ln w="12700">
            <a:solidFill>
              <a:srgbClr val="B45309"/>
            </a:solidFill>
            <a:prstDash val="solid"/>
          </a:ln>
        </p:spPr>
      </p:sp>
      <p:sp>
        <p:nvSpPr>
          <p:cNvPr id="24" name="Text 22"/>
          <p:cNvSpPr/>
          <p:nvPr/>
        </p:nvSpPr>
        <p:spPr>
          <a:xfrm>
            <a:off x="5074920" y="1188720"/>
            <a:ext cx="457200" cy="457200"/>
          </a:xfrm>
          <a:prstGeom prst="rect">
            <a:avLst/>
          </a:prstGeom>
          <a:noFill/>
          <a:ln/>
        </p:spPr>
        <p:txBody>
          <a:bodyPr wrap="square" lIns="0" tIns="0" rIns="0" bIns="0" rtlCol="0" anchor="ctr"/>
          <a:lstStyle/>
          <a:p>
            <a:pPr algn="ctr" indent="0" marL="0">
              <a:buNone/>
            </a:pPr>
            <a:r>
              <a:rPr lang="en-US" sz="1100" b="1" dirty="0">
                <a:solidFill>
                  <a:srgbClr val="5C2D00"/>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4754880" y="167335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Facturation</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électronique 2026</a:t>
            </a:r>
            <a:endParaRPr lang="en-US" sz="800" dirty="0"/>
          </a:p>
        </p:txBody>
      </p:sp>
      <p:sp>
        <p:nvSpPr>
          <p:cNvPr id="26" name="Shape 24"/>
          <p:cNvSpPr/>
          <p:nvPr/>
        </p:nvSpPr>
        <p:spPr>
          <a:xfrm>
            <a:off x="6172200" y="1600200"/>
            <a:ext cx="457200" cy="457200"/>
          </a:xfrm>
          <a:prstGeom prst="ellipse">
            <a:avLst/>
          </a:prstGeom>
          <a:solidFill>
            <a:srgbClr val="F6C26B"/>
          </a:solidFill>
          <a:ln w="12700">
            <a:solidFill>
              <a:srgbClr val="B45309"/>
            </a:solidFill>
            <a:prstDash val="solid"/>
          </a:ln>
        </p:spPr>
      </p:sp>
      <p:sp>
        <p:nvSpPr>
          <p:cNvPr id="27" name="Text 25"/>
          <p:cNvSpPr/>
          <p:nvPr/>
        </p:nvSpPr>
        <p:spPr>
          <a:xfrm>
            <a:off x="6172200" y="1600200"/>
            <a:ext cx="457200" cy="457200"/>
          </a:xfrm>
          <a:prstGeom prst="rect">
            <a:avLst/>
          </a:prstGeom>
          <a:noFill/>
          <a:ln/>
        </p:spPr>
        <p:txBody>
          <a:bodyPr wrap="square" lIns="0" tIns="0" rIns="0" bIns="0" rtlCol="0" anchor="ctr"/>
          <a:lstStyle/>
          <a:p>
            <a:pPr algn="ctr" indent="0" marL="0">
              <a:buNone/>
            </a:pPr>
            <a:r>
              <a:rPr lang="en-US" sz="1100" b="1" dirty="0">
                <a:solidFill>
                  <a:srgbClr val="5C2D00"/>
                </a:solidFill>
                <a:latin typeface="Calibri" pitchFamily="34" charset="0"/>
                <a:ea typeface="Calibri" pitchFamily="34" charset="-122"/>
                <a:cs typeface="Calibri" pitchFamily="34" charset="-120"/>
              </a:rPr>
              <a:t>8</a:t>
            </a:r>
            <a:endParaRPr lang="en-US" sz="1100" dirty="0"/>
          </a:p>
        </p:txBody>
      </p:sp>
      <p:sp>
        <p:nvSpPr>
          <p:cNvPr id="28" name="Text 26"/>
          <p:cNvSpPr/>
          <p:nvPr/>
        </p:nvSpPr>
        <p:spPr>
          <a:xfrm>
            <a:off x="5852160" y="208483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Commandes</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B2B CDP</a:t>
            </a:r>
            <a:endParaRPr lang="en-US" sz="800" dirty="0"/>
          </a:p>
        </p:txBody>
      </p:sp>
      <p:sp>
        <p:nvSpPr>
          <p:cNvPr id="29" name="Shape 27"/>
          <p:cNvSpPr/>
          <p:nvPr/>
        </p:nvSpPr>
        <p:spPr>
          <a:xfrm>
            <a:off x="7543800" y="1143000"/>
            <a:ext cx="457200" cy="457200"/>
          </a:xfrm>
          <a:prstGeom prst="ellipse">
            <a:avLst/>
          </a:prstGeom>
          <a:solidFill>
            <a:srgbClr val="F6C26B"/>
          </a:solidFill>
          <a:ln w="12700">
            <a:solidFill>
              <a:srgbClr val="B45309"/>
            </a:solidFill>
            <a:prstDash val="solid"/>
          </a:ln>
        </p:spPr>
      </p:sp>
      <p:sp>
        <p:nvSpPr>
          <p:cNvPr id="30" name="Text 28"/>
          <p:cNvSpPr/>
          <p:nvPr/>
        </p:nvSpPr>
        <p:spPr>
          <a:xfrm>
            <a:off x="7543800" y="1143000"/>
            <a:ext cx="457200" cy="457200"/>
          </a:xfrm>
          <a:prstGeom prst="rect">
            <a:avLst/>
          </a:prstGeom>
          <a:noFill/>
          <a:ln/>
        </p:spPr>
        <p:txBody>
          <a:bodyPr wrap="square" lIns="0" tIns="0" rIns="0" bIns="0" rtlCol="0" anchor="ctr"/>
          <a:lstStyle/>
          <a:p>
            <a:pPr algn="ctr" indent="0" marL="0">
              <a:buNone/>
            </a:pPr>
            <a:r>
              <a:rPr lang="en-US" sz="1100" b="1" dirty="0">
                <a:solidFill>
                  <a:srgbClr val="5C2D00"/>
                </a:solidFill>
                <a:latin typeface="Calibri" pitchFamily="34" charset="0"/>
                <a:ea typeface="Calibri" pitchFamily="34" charset="-122"/>
                <a:cs typeface="Calibri" pitchFamily="34" charset="-120"/>
              </a:rPr>
              <a:t>6</a:t>
            </a:r>
            <a:endParaRPr lang="en-US" sz="1100" dirty="0"/>
          </a:p>
        </p:txBody>
      </p:sp>
      <p:sp>
        <p:nvSpPr>
          <p:cNvPr id="31" name="Text 29"/>
          <p:cNvSpPr/>
          <p:nvPr/>
        </p:nvSpPr>
        <p:spPr>
          <a:xfrm>
            <a:off x="7223760" y="162763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Progiciel</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unifié (18 mois)</a:t>
            </a:r>
            <a:endParaRPr lang="en-US" sz="800" dirty="0"/>
          </a:p>
        </p:txBody>
      </p:sp>
      <p:sp>
        <p:nvSpPr>
          <p:cNvPr id="32" name="Shape 30"/>
          <p:cNvSpPr/>
          <p:nvPr/>
        </p:nvSpPr>
        <p:spPr>
          <a:xfrm>
            <a:off x="1097280" y="2743200"/>
            <a:ext cx="365760" cy="365760"/>
          </a:xfrm>
          <a:prstGeom prst="ellipse">
            <a:avLst/>
          </a:prstGeom>
          <a:solidFill>
            <a:srgbClr val="D3D1C7"/>
          </a:solidFill>
          <a:ln w="12700">
            <a:solidFill>
              <a:srgbClr val="888888"/>
            </a:solidFill>
            <a:prstDash val="solid"/>
          </a:ln>
        </p:spPr>
      </p:sp>
      <p:sp>
        <p:nvSpPr>
          <p:cNvPr id="33" name="Text 31"/>
          <p:cNvSpPr/>
          <p:nvPr/>
        </p:nvSpPr>
        <p:spPr>
          <a:xfrm>
            <a:off x="1097280" y="2743200"/>
            <a:ext cx="365760" cy="365760"/>
          </a:xfrm>
          <a:prstGeom prst="rect">
            <a:avLst/>
          </a:prstGeom>
          <a:noFill/>
          <a:ln/>
        </p:spPr>
        <p:txBody>
          <a:bodyPr wrap="square" lIns="0" tIns="0" rIns="0" bIns="0" rtlCol="0" anchor="ctr"/>
          <a:lstStyle/>
          <a:p>
            <a:pPr algn="ctr" indent="0" marL="0">
              <a:buNone/>
            </a:pPr>
            <a:r>
              <a:rPr lang="en-US" sz="1100" b="1" dirty="0">
                <a:solidFill>
                  <a:srgbClr val="333333"/>
                </a:solidFill>
                <a:latin typeface="Calibri" pitchFamily="34" charset="0"/>
                <a:ea typeface="Calibri" pitchFamily="34" charset="-122"/>
                <a:cs typeface="Calibri" pitchFamily="34" charset="-120"/>
              </a:rPr>
              <a:t>4</a:t>
            </a:r>
            <a:endParaRPr lang="en-US" sz="1100" dirty="0"/>
          </a:p>
        </p:txBody>
      </p:sp>
      <p:sp>
        <p:nvSpPr>
          <p:cNvPr id="34" name="Text 32"/>
          <p:cNvSpPr/>
          <p:nvPr/>
        </p:nvSpPr>
        <p:spPr>
          <a:xfrm>
            <a:off x="731520" y="313639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Documentation</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procédures</a:t>
            </a:r>
            <a:endParaRPr lang="en-US" sz="800" dirty="0"/>
          </a:p>
        </p:txBody>
      </p:sp>
      <p:sp>
        <p:nvSpPr>
          <p:cNvPr id="35" name="Shape 33"/>
          <p:cNvSpPr/>
          <p:nvPr/>
        </p:nvSpPr>
        <p:spPr>
          <a:xfrm>
            <a:off x="2377440" y="3657600"/>
            <a:ext cx="365760" cy="365760"/>
          </a:xfrm>
          <a:prstGeom prst="ellipse">
            <a:avLst/>
          </a:prstGeom>
          <a:solidFill>
            <a:srgbClr val="D3D1C7"/>
          </a:solidFill>
          <a:ln w="12700">
            <a:solidFill>
              <a:srgbClr val="888888"/>
            </a:solidFill>
            <a:prstDash val="solid"/>
          </a:ln>
        </p:spPr>
      </p:sp>
      <p:sp>
        <p:nvSpPr>
          <p:cNvPr id="36" name="Text 34"/>
          <p:cNvSpPr/>
          <p:nvPr/>
        </p:nvSpPr>
        <p:spPr>
          <a:xfrm>
            <a:off x="2377440" y="3657600"/>
            <a:ext cx="365760" cy="365760"/>
          </a:xfrm>
          <a:prstGeom prst="rect">
            <a:avLst/>
          </a:prstGeom>
          <a:noFill/>
          <a:ln/>
        </p:spPr>
        <p:txBody>
          <a:bodyPr wrap="square" lIns="0" tIns="0" rIns="0" bIns="0" rtlCol="0" anchor="ctr"/>
          <a:lstStyle/>
          <a:p>
            <a:pPr algn="ctr" indent="0" marL="0">
              <a:buNone/>
            </a:pPr>
            <a:r>
              <a:rPr lang="en-US" sz="1100" b="1" dirty="0">
                <a:solidFill>
                  <a:srgbClr val="333333"/>
                </a:solidFill>
                <a:latin typeface="Calibri" pitchFamily="34" charset="0"/>
                <a:ea typeface="Calibri" pitchFamily="34" charset="-122"/>
                <a:cs typeface="Calibri" pitchFamily="34" charset="-120"/>
              </a:rPr>
              <a:t>7</a:t>
            </a:r>
            <a:endParaRPr lang="en-US" sz="1100" dirty="0"/>
          </a:p>
        </p:txBody>
      </p:sp>
      <p:sp>
        <p:nvSpPr>
          <p:cNvPr id="37" name="Text 35"/>
          <p:cNvSpPr/>
          <p:nvPr/>
        </p:nvSpPr>
        <p:spPr>
          <a:xfrm>
            <a:off x="2011680" y="4050792"/>
            <a:ext cx="1097280" cy="457200"/>
          </a:xfrm>
          <a:prstGeom prst="rect">
            <a:avLst/>
          </a:prstGeom>
          <a:noFill/>
          <a:ln/>
        </p:spPr>
        <p:txBody>
          <a:bodyPr wrap="square" lIns="0" tIns="0" rIns="0" bIns="0" rtlCol="0" anchor="ctr"/>
          <a:lstStyle/>
          <a:p>
            <a:pPr algn="ctr" indent="0" marL="0">
              <a:buNone/>
            </a:pPr>
            <a:r>
              <a:rPr lang="en-US" sz="800" dirty="0">
                <a:solidFill>
                  <a:srgbClr val="444444"/>
                </a:solidFill>
                <a:latin typeface="Calibri" pitchFamily="34" charset="0"/>
                <a:ea typeface="Calibri" pitchFamily="34" charset="-122"/>
                <a:cs typeface="Calibri" pitchFamily="34" charset="-120"/>
              </a:rPr>
              <a:t>Démat. bons</a:t>
            </a:r>
            <a:endParaRPr lang="en-US" sz="800" dirty="0"/>
          </a:p>
          <a:p>
            <a:pPr algn="ctr" indent="0" marL="0">
              <a:buNone/>
            </a:pPr>
            <a:r>
              <a:rPr lang="en-US" sz="800" dirty="0">
                <a:solidFill>
                  <a:srgbClr val="444444"/>
                </a:solidFill>
                <a:latin typeface="Calibri" pitchFamily="34" charset="0"/>
                <a:ea typeface="Calibri" pitchFamily="34" charset="-122"/>
                <a:cs typeface="Calibri" pitchFamily="34" charset="-120"/>
              </a:rPr>
              <a:t>réception</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2C35"/>
          </a:solidFill>
          <a:ln w="12700">
            <a:solidFill>
              <a:srgbClr val="1A2C35"/>
            </a:solidFill>
            <a:prstDash val="solid"/>
          </a:ln>
        </p:spPr>
      </p:sp>
      <p:sp>
        <p:nvSpPr>
          <p:cNvPr id="3" name="Text 1"/>
          <p:cNvSpPr/>
          <p:nvPr/>
        </p:nvSpPr>
        <p:spPr>
          <a:xfrm>
            <a:off x="365760" y="0"/>
            <a:ext cx="8412480" cy="8229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Points clés pour le dirigeant</a:t>
            </a:r>
            <a:endParaRPr lang="en-US" sz="2200" dirty="0"/>
          </a:p>
        </p:txBody>
      </p:sp>
      <p:sp>
        <p:nvSpPr>
          <p:cNvPr id="4" name="Shape 2"/>
          <p:cNvSpPr/>
          <p:nvPr/>
        </p:nvSpPr>
        <p:spPr>
          <a:xfrm>
            <a:off x="228600" y="960120"/>
            <a:ext cx="4206240" cy="1874520"/>
          </a:xfrm>
          <a:prstGeom prst="rect">
            <a:avLst/>
          </a:prstGeom>
          <a:solidFill>
            <a:srgbClr val="FFFFFF"/>
          </a:solidFill>
          <a:ln w="12700">
            <a:solidFill>
              <a:srgbClr val="E2E8F0"/>
            </a:solidFill>
            <a:prstDash val="solid"/>
          </a:ln>
        </p:spPr>
      </p:sp>
      <p:sp>
        <p:nvSpPr>
          <p:cNvPr id="5" name="Shape 3"/>
          <p:cNvSpPr/>
          <p:nvPr/>
        </p:nvSpPr>
        <p:spPr>
          <a:xfrm>
            <a:off x="228600" y="960120"/>
            <a:ext cx="1737360" cy="310896"/>
          </a:xfrm>
          <a:prstGeom prst="rect">
            <a:avLst/>
          </a:prstGeom>
          <a:solidFill>
            <a:srgbClr val="3B6D11"/>
          </a:solidFill>
          <a:ln w="12700">
            <a:solidFill>
              <a:srgbClr val="3B6D11"/>
            </a:solidFill>
            <a:prstDash val="solid"/>
          </a:ln>
        </p:spPr>
      </p:sp>
      <p:sp>
        <p:nvSpPr>
          <p:cNvPr id="6" name="Text 4"/>
          <p:cNvSpPr/>
          <p:nvPr/>
        </p:nvSpPr>
        <p:spPr>
          <a:xfrm>
            <a:off x="228600" y="960120"/>
            <a:ext cx="1737360" cy="31089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SITUATION ACTUELLE</a:t>
            </a:r>
            <a:endParaRPr lang="en-US" sz="800" dirty="0"/>
          </a:p>
        </p:txBody>
      </p:sp>
      <p:sp>
        <p:nvSpPr>
          <p:cNvPr id="7" name="Text 5"/>
          <p:cNvSpPr/>
          <p:nvPr/>
        </p:nvSpPr>
        <p:spPr>
          <a:xfrm>
            <a:off x="365760" y="1344168"/>
            <a:ext cx="3931920" cy="347472"/>
          </a:xfrm>
          <a:prstGeom prst="rect">
            <a:avLst/>
          </a:prstGeom>
          <a:noFill/>
          <a:ln/>
        </p:spPr>
        <p:txBody>
          <a:bodyPr wrap="square" lIns="0" tIns="0" rIns="0" bIns="0" rtlCol="0" anchor="ctr"/>
          <a:lstStyle/>
          <a:p>
            <a:pPr indent="0" marL="0">
              <a:buNone/>
            </a:pPr>
            <a:r>
              <a:rPr lang="en-US" sz="1500" b="1" dirty="0">
                <a:solidFill>
                  <a:srgbClr val="111111"/>
                </a:solidFill>
                <a:latin typeface="Calibri" pitchFamily="34" charset="0"/>
                <a:ea typeface="Calibri" pitchFamily="34" charset="-122"/>
                <a:cs typeface="Calibri" pitchFamily="34" charset="-120"/>
              </a:rPr>
              <a:t>Constat</a:t>
            </a:r>
            <a:endParaRPr lang="en-US" sz="1500" dirty="0"/>
          </a:p>
        </p:txBody>
      </p:sp>
      <p:sp>
        <p:nvSpPr>
          <p:cNvPr id="8" name="Text 6"/>
          <p:cNvSpPr/>
          <p:nvPr/>
        </p:nvSpPr>
        <p:spPr>
          <a:xfrm>
            <a:off x="365760" y="1737360"/>
            <a:ext cx="3931920" cy="1005840"/>
          </a:xfrm>
          <a:prstGeom prst="rect">
            <a:avLst/>
          </a:prstGeom>
          <a:noFill/>
          <a:ln/>
        </p:spPr>
        <p:txBody>
          <a:bodyPr wrap="square" lIns="0" tIns="0" rIns="0" bIns="0" rtlCol="0" anchor="ctr"/>
          <a:lstStyle/>
          <a:p>
            <a:pPr indent="0" marL="0">
              <a:buNone/>
            </a:pPr>
            <a:r>
              <a:rPr lang="en-US" sz="1200" dirty="0">
                <a:solidFill>
                  <a:srgbClr val="444444"/>
                </a:solidFill>
                <a:latin typeface="Calibri" pitchFamily="34" charset="0"/>
                <a:ea typeface="Calibri" pitchFamily="34" charset="-122"/>
                <a:cs typeface="Calibri" pitchFamily="34" charset="-120"/>
              </a:rPr>
              <a:t>Les deux entités fonctionnent aujourd'hui en manuel. Aurélie (Rampal) et Gaëlle (CDP) portent seules l'ensemble des flux, sans suppléant ni procédure écrite. Tout diagnostic d'automatisation repose sur cette réalité, pas sur les propositions du document source.</a:t>
            </a:r>
            <a:endParaRPr lang="en-US" sz="1200" dirty="0"/>
          </a:p>
        </p:txBody>
      </p:sp>
      <p:sp>
        <p:nvSpPr>
          <p:cNvPr id="9" name="Shape 7"/>
          <p:cNvSpPr/>
          <p:nvPr/>
        </p:nvSpPr>
        <p:spPr>
          <a:xfrm>
            <a:off x="4709160" y="960120"/>
            <a:ext cx="4206240" cy="1874520"/>
          </a:xfrm>
          <a:prstGeom prst="rect">
            <a:avLst/>
          </a:prstGeom>
          <a:solidFill>
            <a:srgbClr val="FFFFFF"/>
          </a:solidFill>
          <a:ln w="12700">
            <a:solidFill>
              <a:srgbClr val="E2E8F0"/>
            </a:solidFill>
            <a:prstDash val="solid"/>
          </a:ln>
        </p:spPr>
      </p:sp>
      <p:sp>
        <p:nvSpPr>
          <p:cNvPr id="10" name="Shape 8"/>
          <p:cNvSpPr/>
          <p:nvPr/>
        </p:nvSpPr>
        <p:spPr>
          <a:xfrm>
            <a:off x="4709160" y="960120"/>
            <a:ext cx="1737360" cy="310896"/>
          </a:xfrm>
          <a:prstGeom prst="rect">
            <a:avLst/>
          </a:prstGeom>
          <a:solidFill>
            <a:srgbClr val="B45309"/>
          </a:solidFill>
          <a:ln w="12700">
            <a:solidFill>
              <a:srgbClr val="B45309"/>
            </a:solidFill>
            <a:prstDash val="solid"/>
          </a:ln>
        </p:spPr>
      </p:sp>
      <p:sp>
        <p:nvSpPr>
          <p:cNvPr id="11" name="Text 9"/>
          <p:cNvSpPr/>
          <p:nvPr/>
        </p:nvSpPr>
        <p:spPr>
          <a:xfrm>
            <a:off x="4709160" y="960120"/>
            <a:ext cx="1737360" cy="31089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CONFORMITÉ LÉGALE</a:t>
            </a:r>
            <a:endParaRPr lang="en-US" sz="800" dirty="0"/>
          </a:p>
        </p:txBody>
      </p:sp>
      <p:sp>
        <p:nvSpPr>
          <p:cNvPr id="12" name="Text 10"/>
          <p:cNvSpPr/>
          <p:nvPr/>
        </p:nvSpPr>
        <p:spPr>
          <a:xfrm>
            <a:off x="4846320" y="1344168"/>
            <a:ext cx="3931920" cy="347472"/>
          </a:xfrm>
          <a:prstGeom prst="rect">
            <a:avLst/>
          </a:prstGeom>
          <a:noFill/>
          <a:ln/>
        </p:spPr>
        <p:txBody>
          <a:bodyPr wrap="square" lIns="0" tIns="0" rIns="0" bIns="0" rtlCol="0" anchor="ctr"/>
          <a:lstStyle/>
          <a:p>
            <a:pPr indent="0" marL="0">
              <a:buNone/>
            </a:pPr>
            <a:r>
              <a:rPr lang="en-US" sz="1500" b="1" dirty="0">
                <a:solidFill>
                  <a:srgbClr val="111111"/>
                </a:solidFill>
                <a:latin typeface="Calibri" pitchFamily="34" charset="0"/>
                <a:ea typeface="Calibri" pitchFamily="34" charset="-122"/>
                <a:cs typeface="Calibri" pitchFamily="34" charset="-120"/>
              </a:rPr>
              <a:t>Urgence 2026</a:t>
            </a:r>
            <a:endParaRPr lang="en-US" sz="1500" dirty="0"/>
          </a:p>
        </p:txBody>
      </p:sp>
      <p:sp>
        <p:nvSpPr>
          <p:cNvPr id="13" name="Text 11"/>
          <p:cNvSpPr/>
          <p:nvPr/>
        </p:nvSpPr>
        <p:spPr>
          <a:xfrm>
            <a:off x="4846320" y="1737360"/>
            <a:ext cx="3931920" cy="1005840"/>
          </a:xfrm>
          <a:prstGeom prst="rect">
            <a:avLst/>
          </a:prstGeom>
          <a:noFill/>
          <a:ln/>
        </p:spPr>
        <p:txBody>
          <a:bodyPr wrap="square" lIns="0" tIns="0" rIns="0" bIns="0" rtlCol="0" anchor="ctr"/>
          <a:lstStyle/>
          <a:p>
            <a:pPr indent="0" marL="0">
              <a:buNone/>
            </a:pPr>
            <a:r>
              <a:rPr lang="en-US" sz="1200" dirty="0">
                <a:solidFill>
                  <a:srgbClr val="444444"/>
                </a:solidFill>
                <a:latin typeface="Calibri" pitchFamily="34" charset="0"/>
                <a:ea typeface="Calibri" pitchFamily="34" charset="-122"/>
                <a:cs typeface="Calibri" pitchFamily="34" charset="-120"/>
              </a:rPr>
              <a:t>La facturation électronique inter-entreprises devient obligatoire en 2026 (calendrier ayant déjà glissé depuis 2024). Ce chantier impose le choix d'une PDP agréée. Le marché est jeune, le risque de mauvais choix de prestataire est réel. L'expert-comptable est le premier interlocuteur.</a:t>
            </a:r>
            <a:endParaRPr lang="en-US" sz="1200" dirty="0"/>
          </a:p>
        </p:txBody>
      </p:sp>
      <p:sp>
        <p:nvSpPr>
          <p:cNvPr id="14" name="Shape 12"/>
          <p:cNvSpPr/>
          <p:nvPr/>
        </p:nvSpPr>
        <p:spPr>
          <a:xfrm>
            <a:off x="228600" y="3017520"/>
            <a:ext cx="4206240" cy="1874520"/>
          </a:xfrm>
          <a:prstGeom prst="rect">
            <a:avLst/>
          </a:prstGeom>
          <a:solidFill>
            <a:srgbClr val="FFFFFF"/>
          </a:solidFill>
          <a:ln w="12700">
            <a:solidFill>
              <a:srgbClr val="E2E8F0"/>
            </a:solidFill>
            <a:prstDash val="solid"/>
          </a:ln>
        </p:spPr>
      </p:sp>
      <p:sp>
        <p:nvSpPr>
          <p:cNvPr id="15" name="Shape 13"/>
          <p:cNvSpPr/>
          <p:nvPr/>
        </p:nvSpPr>
        <p:spPr>
          <a:xfrm>
            <a:off x="228600" y="3017520"/>
            <a:ext cx="1737360" cy="310896"/>
          </a:xfrm>
          <a:prstGeom prst="rect">
            <a:avLst/>
          </a:prstGeom>
          <a:solidFill>
            <a:srgbClr val="1A56A0"/>
          </a:solidFill>
          <a:ln w="12700">
            <a:solidFill>
              <a:srgbClr val="1A56A0"/>
            </a:solidFill>
            <a:prstDash val="solid"/>
          </a:ln>
        </p:spPr>
      </p:sp>
      <p:sp>
        <p:nvSpPr>
          <p:cNvPr id="16" name="Text 14"/>
          <p:cNvSpPr/>
          <p:nvPr/>
        </p:nvSpPr>
        <p:spPr>
          <a:xfrm>
            <a:off x="228600" y="3017520"/>
            <a:ext cx="1737360" cy="31089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PRIORITÉ COURT TERME</a:t>
            </a:r>
            <a:endParaRPr lang="en-US" sz="800" dirty="0"/>
          </a:p>
        </p:txBody>
      </p:sp>
      <p:sp>
        <p:nvSpPr>
          <p:cNvPr id="17" name="Text 15"/>
          <p:cNvSpPr/>
          <p:nvPr/>
        </p:nvSpPr>
        <p:spPr>
          <a:xfrm>
            <a:off x="365760" y="3401568"/>
            <a:ext cx="3931920" cy="347472"/>
          </a:xfrm>
          <a:prstGeom prst="rect">
            <a:avLst/>
          </a:prstGeom>
          <a:noFill/>
          <a:ln/>
        </p:spPr>
        <p:txBody>
          <a:bodyPr wrap="square" lIns="0" tIns="0" rIns="0" bIns="0" rtlCol="0" anchor="ctr"/>
          <a:lstStyle/>
          <a:p>
            <a:pPr indent="0" marL="0">
              <a:buNone/>
            </a:pPr>
            <a:r>
              <a:rPr lang="en-US" sz="1500" b="1" dirty="0">
                <a:solidFill>
                  <a:srgbClr val="111111"/>
                </a:solidFill>
                <a:latin typeface="Calibri" pitchFamily="34" charset="0"/>
                <a:ea typeface="Calibri" pitchFamily="34" charset="-122"/>
                <a:cs typeface="Calibri" pitchFamily="34" charset="-120"/>
              </a:rPr>
              <a:t>3 gains immédiats</a:t>
            </a:r>
            <a:endParaRPr lang="en-US" sz="1500" dirty="0"/>
          </a:p>
        </p:txBody>
      </p:sp>
      <p:sp>
        <p:nvSpPr>
          <p:cNvPr id="18" name="Text 16"/>
          <p:cNvSpPr/>
          <p:nvPr/>
        </p:nvSpPr>
        <p:spPr>
          <a:xfrm>
            <a:off x="365760" y="3794760"/>
            <a:ext cx="3931920" cy="1005840"/>
          </a:xfrm>
          <a:prstGeom prst="rect">
            <a:avLst/>
          </a:prstGeom>
          <a:noFill/>
          <a:ln/>
        </p:spPr>
        <p:txBody>
          <a:bodyPr wrap="square" lIns="0" tIns="0" rIns="0" bIns="0" rtlCol="0" anchor="ctr"/>
          <a:lstStyle/>
          <a:p>
            <a:pPr indent="0" marL="0">
              <a:buNone/>
            </a:pPr>
            <a:r>
              <a:rPr lang="en-US" sz="1200" dirty="0">
                <a:solidFill>
                  <a:srgbClr val="444444"/>
                </a:solidFill>
                <a:latin typeface="Calibri" pitchFamily="34" charset="0"/>
                <a:ea typeface="Calibri" pitchFamily="34" charset="-122"/>
                <a:cs typeface="Calibri" pitchFamily="34" charset="-120"/>
              </a:rPr>
              <a:t>① Connecteur Prestashop→Sage (si versions compatibles — non vérifié). ② Rapprochement bancaire (viser 80% de lettrage auto, pas 100%). ③ Flux Odoo→LSI (auditer le tableur d'Aurélie avant de le supprimer). Chaque chantier nécessite cadrage et devis. Le gain de 1,5 ETP/semaine est une estimation non mesurée.</a:t>
            </a:r>
            <a:endParaRPr lang="en-US" sz="1200" dirty="0"/>
          </a:p>
        </p:txBody>
      </p:sp>
      <p:sp>
        <p:nvSpPr>
          <p:cNvPr id="19" name="Shape 17"/>
          <p:cNvSpPr/>
          <p:nvPr/>
        </p:nvSpPr>
        <p:spPr>
          <a:xfrm>
            <a:off x="4709160" y="3017520"/>
            <a:ext cx="4206240" cy="1874520"/>
          </a:xfrm>
          <a:prstGeom prst="rect">
            <a:avLst/>
          </a:prstGeom>
          <a:solidFill>
            <a:srgbClr val="FFFFFF"/>
          </a:solidFill>
          <a:ln w="12700">
            <a:solidFill>
              <a:srgbClr val="E2E8F0"/>
            </a:solidFill>
            <a:prstDash val="solid"/>
          </a:ln>
        </p:spPr>
      </p:sp>
      <p:sp>
        <p:nvSpPr>
          <p:cNvPr id="20" name="Shape 18"/>
          <p:cNvSpPr/>
          <p:nvPr/>
        </p:nvSpPr>
        <p:spPr>
          <a:xfrm>
            <a:off x="4709160" y="3017520"/>
            <a:ext cx="1737360" cy="310896"/>
          </a:xfrm>
          <a:prstGeom prst="rect">
            <a:avLst/>
          </a:prstGeom>
          <a:solidFill>
            <a:srgbClr val="991F1F"/>
          </a:solidFill>
          <a:ln w="12700">
            <a:solidFill>
              <a:srgbClr val="991F1F"/>
            </a:solidFill>
            <a:prstDash val="solid"/>
          </a:ln>
        </p:spPr>
      </p:sp>
      <p:sp>
        <p:nvSpPr>
          <p:cNvPr id="21" name="Text 19"/>
          <p:cNvSpPr/>
          <p:nvPr/>
        </p:nvSpPr>
        <p:spPr>
          <a:xfrm>
            <a:off x="4709160" y="3017520"/>
            <a:ext cx="1737360" cy="31089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RISQUE CACHÉ</a:t>
            </a:r>
            <a:endParaRPr lang="en-US" sz="800" dirty="0"/>
          </a:p>
        </p:txBody>
      </p:sp>
      <p:sp>
        <p:nvSpPr>
          <p:cNvPr id="22" name="Text 20"/>
          <p:cNvSpPr/>
          <p:nvPr/>
        </p:nvSpPr>
        <p:spPr>
          <a:xfrm>
            <a:off x="4846320" y="3401568"/>
            <a:ext cx="3931920" cy="347472"/>
          </a:xfrm>
          <a:prstGeom prst="rect">
            <a:avLst/>
          </a:prstGeom>
          <a:noFill/>
          <a:ln/>
        </p:spPr>
        <p:txBody>
          <a:bodyPr wrap="square" lIns="0" tIns="0" rIns="0" bIns="0" rtlCol="0" anchor="ctr"/>
          <a:lstStyle/>
          <a:p>
            <a:pPr indent="0" marL="0">
              <a:buNone/>
            </a:pPr>
            <a:r>
              <a:rPr lang="en-US" sz="1500" b="1" dirty="0">
                <a:solidFill>
                  <a:srgbClr val="111111"/>
                </a:solidFill>
                <a:latin typeface="Calibri" pitchFamily="34" charset="0"/>
                <a:ea typeface="Calibri" pitchFamily="34" charset="-122"/>
                <a:cs typeface="Calibri" pitchFamily="34" charset="-120"/>
              </a:rPr>
              <a:t>Dette tableur</a:t>
            </a:r>
            <a:endParaRPr lang="en-US" sz="1500" dirty="0"/>
          </a:p>
        </p:txBody>
      </p:sp>
      <p:sp>
        <p:nvSpPr>
          <p:cNvPr id="23" name="Text 21"/>
          <p:cNvSpPr/>
          <p:nvPr/>
        </p:nvSpPr>
        <p:spPr>
          <a:xfrm>
            <a:off x="4846320" y="3794760"/>
            <a:ext cx="3931920" cy="1005840"/>
          </a:xfrm>
          <a:prstGeom prst="rect">
            <a:avLst/>
          </a:prstGeom>
          <a:noFill/>
          <a:ln/>
        </p:spPr>
        <p:txBody>
          <a:bodyPr wrap="square" lIns="0" tIns="0" rIns="0" bIns="0" rtlCol="0" anchor="ctr"/>
          <a:lstStyle/>
          <a:p>
            <a:pPr indent="0" marL="0">
              <a:buNone/>
            </a:pPr>
            <a:r>
              <a:rPr lang="en-US" sz="1200" dirty="0">
                <a:solidFill>
                  <a:srgbClr val="444444"/>
                </a:solidFill>
                <a:latin typeface="Calibri" pitchFamily="34" charset="0"/>
                <a:ea typeface="Calibri" pitchFamily="34" charset="-122"/>
                <a:cs typeface="Calibri" pitchFamily="34" charset="-120"/>
              </a:rPr>
              <a:t>Prévisions matières, suivi des impayés, retraitements CA : tout repose sur des fichiers tableur non audités ni versionnés. Le tableur d'Aurélie cache peut-être des retraitements non documentés. En cas de départ, la traçabilité est nulle. Documenter avant d'automatiser — avec un tiers dédié, pas en auto-documentation.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2C35"/>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6D11"/>
          </a:solidFill>
          <a:ln w="12700">
            <a:solidFill>
              <a:srgbClr val="3B6D11"/>
            </a:solidFill>
            <a:prstDash val="solid"/>
          </a:ln>
        </p:spPr>
      </p:sp>
      <p:sp>
        <p:nvSpPr>
          <p:cNvPr id="3" name="Text 1"/>
          <p:cNvSpPr/>
          <p:nvPr/>
        </p:nvSpPr>
        <p:spPr>
          <a:xfrm>
            <a:off x="457200" y="457200"/>
            <a:ext cx="8229600" cy="64008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Recommandation — horizon 18 mois</a:t>
            </a:r>
            <a:endParaRPr lang="en-US" sz="2600" dirty="0"/>
          </a:p>
        </p:txBody>
      </p:sp>
      <p:sp>
        <p:nvSpPr>
          <p:cNvPr id="4" name="Shape 2"/>
          <p:cNvSpPr/>
          <p:nvPr/>
        </p:nvSpPr>
        <p:spPr>
          <a:xfrm>
            <a:off x="457200" y="1325880"/>
            <a:ext cx="530352" cy="530352"/>
          </a:xfrm>
          <a:prstGeom prst="ellipse">
            <a:avLst/>
          </a:prstGeom>
          <a:solidFill>
            <a:srgbClr val="3B6D11"/>
          </a:solidFill>
          <a:ln w="12700">
            <a:solidFill>
              <a:srgbClr val="3B6D11"/>
            </a:solidFill>
            <a:prstDash val="solid"/>
          </a:ln>
        </p:spPr>
      </p:sp>
      <p:sp>
        <p:nvSpPr>
          <p:cNvPr id="5" name="Text 3"/>
          <p:cNvSpPr/>
          <p:nvPr/>
        </p:nvSpPr>
        <p:spPr>
          <a:xfrm>
            <a:off x="457200" y="1325880"/>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6" name="Text 4"/>
          <p:cNvSpPr/>
          <p:nvPr/>
        </p:nvSpPr>
        <p:spPr>
          <a:xfrm>
            <a:off x="1188720" y="1325880"/>
            <a:ext cx="18288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Maintenant</a:t>
            </a:r>
            <a:endParaRPr lang="en-US" sz="1400" dirty="0"/>
          </a:p>
        </p:txBody>
      </p:sp>
      <p:sp>
        <p:nvSpPr>
          <p:cNvPr id="7" name="Text 5"/>
          <p:cNvSpPr/>
          <p:nvPr/>
        </p:nvSpPr>
        <p:spPr>
          <a:xfrm>
            <a:off x="1188720" y="1618488"/>
            <a:ext cx="7406640" cy="566928"/>
          </a:xfrm>
          <a:prstGeom prst="rect">
            <a:avLst/>
          </a:prstGeom>
          <a:noFill/>
          <a:ln/>
        </p:spPr>
        <p:txBody>
          <a:bodyPr wrap="square" lIns="0" tIns="0" rIns="0" bIns="0" rtlCol="0" anchor="ctr"/>
          <a:lstStyle/>
          <a:p>
            <a:pPr indent="0" marL="0">
              <a:buNone/>
            </a:pPr>
            <a:r>
              <a:rPr lang="en-US" sz="1200" dirty="0">
                <a:solidFill>
                  <a:srgbClr val="9BB8C8"/>
                </a:solidFill>
                <a:latin typeface="Calibri" pitchFamily="34" charset="0"/>
                <a:ea typeface="Calibri" pitchFamily="34" charset="-122"/>
                <a:cs typeface="Calibri" pitchFamily="34" charset="-120"/>
              </a:rPr>
              <a:t>Documenter les procédures (avec un tiers dédié). Cadrer le connecteur Prestashop→Sage (audit versions). Lancer le rapprochement bancaire canal par canal. Coûts non chiffrables sans audit préalable des versions logicielles.</a:t>
            </a:r>
            <a:endParaRPr lang="en-US" sz="1200" dirty="0"/>
          </a:p>
        </p:txBody>
      </p:sp>
      <p:sp>
        <p:nvSpPr>
          <p:cNvPr id="8" name="Shape 6"/>
          <p:cNvSpPr/>
          <p:nvPr/>
        </p:nvSpPr>
        <p:spPr>
          <a:xfrm>
            <a:off x="676656" y="1892808"/>
            <a:ext cx="0" cy="512064"/>
          </a:xfrm>
          <a:prstGeom prst="line">
            <a:avLst/>
          </a:prstGeom>
          <a:noFill/>
          <a:ln w="12700">
            <a:solidFill>
              <a:srgbClr val="3A5A6A"/>
            </a:solidFill>
            <a:prstDash val="dash"/>
          </a:ln>
        </p:spPr>
      </p:sp>
      <p:sp>
        <p:nvSpPr>
          <p:cNvPr id="9" name="Shape 7"/>
          <p:cNvSpPr/>
          <p:nvPr/>
        </p:nvSpPr>
        <p:spPr>
          <a:xfrm>
            <a:off x="457200" y="2404872"/>
            <a:ext cx="530352" cy="530352"/>
          </a:xfrm>
          <a:prstGeom prst="ellipse">
            <a:avLst/>
          </a:prstGeom>
          <a:solidFill>
            <a:srgbClr val="1A56A0"/>
          </a:solidFill>
          <a:ln w="12700">
            <a:solidFill>
              <a:srgbClr val="1A56A0"/>
            </a:solidFill>
            <a:prstDash val="solid"/>
          </a:ln>
        </p:spPr>
      </p:sp>
      <p:sp>
        <p:nvSpPr>
          <p:cNvPr id="10" name="Text 8"/>
          <p:cNvSpPr/>
          <p:nvPr/>
        </p:nvSpPr>
        <p:spPr>
          <a:xfrm>
            <a:off x="457200" y="2404872"/>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11" name="Text 9"/>
          <p:cNvSpPr/>
          <p:nvPr/>
        </p:nvSpPr>
        <p:spPr>
          <a:xfrm>
            <a:off x="1188720" y="2404872"/>
            <a:ext cx="18288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Dans 3 mois</a:t>
            </a:r>
            <a:endParaRPr lang="en-US" sz="1400" dirty="0"/>
          </a:p>
        </p:txBody>
      </p:sp>
      <p:sp>
        <p:nvSpPr>
          <p:cNvPr id="12" name="Text 10"/>
          <p:cNvSpPr/>
          <p:nvPr/>
        </p:nvSpPr>
        <p:spPr>
          <a:xfrm>
            <a:off x="1188720" y="2697480"/>
            <a:ext cx="7406640" cy="566928"/>
          </a:xfrm>
          <a:prstGeom prst="rect">
            <a:avLst/>
          </a:prstGeom>
          <a:noFill/>
          <a:ln/>
        </p:spPr>
        <p:txBody>
          <a:bodyPr wrap="square" lIns="0" tIns="0" rIns="0" bIns="0" rtlCol="0" anchor="ctr"/>
          <a:lstStyle/>
          <a:p>
            <a:pPr indent="0" marL="0">
              <a:buNone/>
            </a:pPr>
            <a:r>
              <a:rPr lang="en-US" sz="1200" dirty="0">
                <a:solidFill>
                  <a:srgbClr val="9BB8C8"/>
                </a:solidFill>
                <a:latin typeface="Calibri" pitchFamily="34" charset="0"/>
                <a:ea typeface="Calibri" pitchFamily="34" charset="-122"/>
                <a:cs typeface="Calibri" pitchFamily="34" charset="-120"/>
              </a:rPr>
              <a:t>Engager le chantier facturation électronique avec l'expert-comptable. Vérifier le calendrier réglementaire (a déjà glissé). Sélectionner une PDP — marché jeune, prévoir de la marge.</a:t>
            </a:r>
            <a:endParaRPr lang="en-US" sz="1200" dirty="0"/>
          </a:p>
        </p:txBody>
      </p:sp>
      <p:sp>
        <p:nvSpPr>
          <p:cNvPr id="13" name="Shape 11"/>
          <p:cNvSpPr/>
          <p:nvPr/>
        </p:nvSpPr>
        <p:spPr>
          <a:xfrm>
            <a:off x="676656" y="2971800"/>
            <a:ext cx="0" cy="512064"/>
          </a:xfrm>
          <a:prstGeom prst="line">
            <a:avLst/>
          </a:prstGeom>
          <a:noFill/>
          <a:ln w="12700">
            <a:solidFill>
              <a:srgbClr val="3A5A6A"/>
            </a:solidFill>
            <a:prstDash val="dash"/>
          </a:ln>
        </p:spPr>
      </p:sp>
      <p:sp>
        <p:nvSpPr>
          <p:cNvPr id="14" name="Shape 12"/>
          <p:cNvSpPr/>
          <p:nvPr/>
        </p:nvSpPr>
        <p:spPr>
          <a:xfrm>
            <a:off x="457200" y="3483864"/>
            <a:ext cx="530352" cy="530352"/>
          </a:xfrm>
          <a:prstGeom prst="ellipse">
            <a:avLst/>
          </a:prstGeom>
          <a:solidFill>
            <a:srgbClr val="B45309"/>
          </a:solidFill>
          <a:ln w="12700">
            <a:solidFill>
              <a:srgbClr val="B45309"/>
            </a:solidFill>
            <a:prstDash val="solid"/>
          </a:ln>
        </p:spPr>
      </p:sp>
      <p:sp>
        <p:nvSpPr>
          <p:cNvPr id="15" name="Text 13"/>
          <p:cNvSpPr/>
          <p:nvPr/>
        </p:nvSpPr>
        <p:spPr>
          <a:xfrm>
            <a:off x="457200" y="3483864"/>
            <a:ext cx="530352" cy="53035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16" name="Text 14"/>
          <p:cNvSpPr/>
          <p:nvPr/>
        </p:nvSpPr>
        <p:spPr>
          <a:xfrm>
            <a:off x="1188720" y="3483864"/>
            <a:ext cx="182880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À 18 mois</a:t>
            </a:r>
            <a:endParaRPr lang="en-US" sz="1400" dirty="0"/>
          </a:p>
        </p:txBody>
      </p:sp>
      <p:sp>
        <p:nvSpPr>
          <p:cNvPr id="17" name="Text 15"/>
          <p:cNvSpPr/>
          <p:nvPr/>
        </p:nvSpPr>
        <p:spPr>
          <a:xfrm>
            <a:off x="1188720" y="3776472"/>
            <a:ext cx="7406640" cy="566928"/>
          </a:xfrm>
          <a:prstGeom prst="rect">
            <a:avLst/>
          </a:prstGeom>
          <a:noFill/>
          <a:ln/>
        </p:spPr>
        <p:txBody>
          <a:bodyPr wrap="square" lIns="0" tIns="0" rIns="0" bIns="0" rtlCol="0" anchor="ctr"/>
          <a:lstStyle/>
          <a:p>
            <a:pPr indent="0" marL="0">
              <a:buNone/>
            </a:pPr>
            <a:r>
              <a:rPr lang="en-US" sz="1200" dirty="0">
                <a:solidFill>
                  <a:srgbClr val="9BB8C8"/>
                </a:solidFill>
                <a:latin typeface="Calibri" pitchFamily="34" charset="0"/>
                <a:ea typeface="Calibri" pitchFamily="34" charset="-122"/>
                <a:cs typeface="Calibri" pitchFamily="34" charset="-120"/>
              </a:rPr>
              <a:t>Évaluer la migration ERP unifiée — uniquement si flux stabilisés, procédures documentées et budget validé. Projet à fort risque de dérapage (délais doublent fréquemment en PME). Pennylane envisageable pour CDP seul, pas pour Rampal.</a:t>
            </a:r>
            <a:endParaRPr lang="en-US" sz="1200" dirty="0"/>
          </a:p>
        </p:txBody>
      </p:sp>
      <p:sp>
        <p:nvSpPr>
          <p:cNvPr id="18" name="Text 16"/>
          <p:cNvSpPr/>
          <p:nvPr/>
        </p:nvSpPr>
        <p:spPr>
          <a:xfrm>
            <a:off x="457200" y="4572000"/>
            <a:ext cx="8229600" cy="365760"/>
          </a:xfrm>
          <a:prstGeom prst="rect">
            <a:avLst/>
          </a:prstGeom>
          <a:noFill/>
          <a:ln/>
        </p:spPr>
        <p:txBody>
          <a:bodyPr wrap="square" lIns="0" tIns="0" rIns="0" bIns="0" rtlCol="0" anchor="ctr"/>
          <a:lstStyle/>
          <a:p>
            <a:pPr indent="0" marL="0">
              <a:buNone/>
            </a:pPr>
            <a:r>
              <a:rPr lang="en-US" sz="1000" i="1" dirty="0">
                <a:solidFill>
                  <a:srgbClr val="607D8B"/>
                </a:solidFill>
                <a:latin typeface="Calibri" pitchFamily="34" charset="0"/>
                <a:ea typeface="Calibri" pitchFamily="34" charset="-122"/>
                <a:cs typeface="Calibri" pitchFamily="34" charset="-120"/>
              </a:rPr>
              <a:t>Le problème n'est pas un problème de logiciel — c'est un problème de processus. Changer d'outil sans avoir résolu ça, c'est migrer le chaos.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Automatisation comptable — Rampal Latour / CDP</dc:title>
  <dc:subject>PptxGenJS Presentation</dc:subject>
  <dc:creator>PptxGenJS</dc:creator>
  <cp:lastModifiedBy>PptxGenJS</cp:lastModifiedBy>
  <cp:revision>1</cp:revision>
  <dcterms:created xsi:type="dcterms:W3CDTF">2026-03-17T09:40:27Z</dcterms:created>
  <dcterms:modified xsi:type="dcterms:W3CDTF">2026-03-17T09:40:27Z</dcterms:modified>
</cp:coreProperties>
</file>